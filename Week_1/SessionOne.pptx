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6" r:id="rId3"/>
    <p:sldId id="267" r:id="rId4"/>
    <p:sldId id="257" r:id="rId5"/>
    <p:sldId id="260" r:id="rId6"/>
    <p:sldId id="262" r:id="rId7"/>
    <p:sldId id="265" r:id="rId8"/>
    <p:sldId id="268" r:id="rId9"/>
    <p:sldId id="269" r:id="rId10"/>
    <p:sldId id="263" r:id="rId11"/>
    <p:sldId id="264" r:id="rId12"/>
    <p:sldId id="270" r:id="rId13"/>
    <p:sldId id="271" r:id="rId14"/>
    <p:sldId id="272" r:id="rId15"/>
    <p:sldId id="285" r:id="rId16"/>
    <p:sldId id="284" r:id="rId17"/>
    <p:sldId id="273" r:id="rId18"/>
    <p:sldId id="274" r:id="rId19"/>
    <p:sldId id="286" r:id="rId20"/>
    <p:sldId id="287" r:id="rId21"/>
    <p:sldId id="288" r:id="rId22"/>
    <p:sldId id="289" r:id="rId23"/>
    <p:sldId id="298" r:id="rId24"/>
    <p:sldId id="291" r:id="rId25"/>
    <p:sldId id="279" r:id="rId26"/>
    <p:sldId id="282" r:id="rId27"/>
    <p:sldId id="30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7" d="100"/>
          <a:sy n="77" d="100"/>
        </p:scale>
        <p:origin x="917" y="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D490F-A929-40A0-8CFD-BE76E69B4076}" type="datetimeFigureOut">
              <a:rPr lang="en-US" smtClean="0"/>
              <a:t>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2CDE8A-D73F-447A-9971-A88231213620}" type="slidenum">
              <a:rPr lang="en-US" smtClean="0"/>
              <a:t>‹#›</a:t>
            </a:fld>
            <a:endParaRPr lang="en-US"/>
          </a:p>
        </p:txBody>
      </p:sp>
    </p:spTree>
    <p:extLst>
      <p:ext uri="{BB962C8B-B14F-4D97-AF65-F5344CB8AC3E}">
        <p14:creationId xmlns:p14="http://schemas.microsoft.com/office/powerpoint/2010/main" val="3084306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FI" dirty="0"/>
          </a:p>
        </p:txBody>
      </p:sp>
      <p:sp>
        <p:nvSpPr>
          <p:cNvPr id="4" name="Slide Number Placeholder 3"/>
          <p:cNvSpPr>
            <a:spLocks noGrp="1"/>
          </p:cNvSpPr>
          <p:nvPr>
            <p:ph type="sldNum" sz="quarter" idx="10"/>
          </p:nvPr>
        </p:nvSpPr>
        <p:spPr/>
        <p:txBody>
          <a:bodyPr/>
          <a:lstStyle/>
          <a:p>
            <a:fld id="{67D1E4DE-4F60-4965-8770-D85380E4DF03}" type="slidenum">
              <a:rPr lang="fi-FI" smtClean="0"/>
              <a:pPr/>
              <a:t>25</a:t>
            </a:fld>
            <a:endParaRPr lang="fi-FI"/>
          </a:p>
        </p:txBody>
      </p:sp>
    </p:spTree>
    <p:extLst>
      <p:ext uri="{BB962C8B-B14F-4D97-AF65-F5344CB8AC3E}">
        <p14:creationId xmlns:p14="http://schemas.microsoft.com/office/powerpoint/2010/main" val="3324755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i-FI" dirty="0"/>
          </a:p>
        </p:txBody>
      </p:sp>
      <p:sp>
        <p:nvSpPr>
          <p:cNvPr id="4" name="Slide Number Placeholder 3"/>
          <p:cNvSpPr>
            <a:spLocks noGrp="1"/>
          </p:cNvSpPr>
          <p:nvPr>
            <p:ph type="sldNum" sz="quarter" idx="10"/>
          </p:nvPr>
        </p:nvSpPr>
        <p:spPr/>
        <p:txBody>
          <a:bodyPr/>
          <a:lstStyle/>
          <a:p>
            <a:fld id="{67D1E4DE-4F60-4965-8770-D85380E4DF03}" type="slidenum">
              <a:rPr lang="fi-FI" smtClean="0"/>
              <a:pPr/>
              <a:t>26</a:t>
            </a:fld>
            <a:endParaRPr lang="fi-FI"/>
          </a:p>
        </p:txBody>
      </p:sp>
    </p:spTree>
    <p:extLst>
      <p:ext uri="{BB962C8B-B14F-4D97-AF65-F5344CB8AC3E}">
        <p14:creationId xmlns:p14="http://schemas.microsoft.com/office/powerpoint/2010/main" val="694767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E7A45-0664-BD56-9550-6BB8ECA76D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2A2AD2-85A9-46F6-163F-AFC051F05E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0860F0-4D63-59A9-E4C0-288545A88E06}"/>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9AF16FC3-9258-DC8C-4459-604ABC6E3C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B72D24-567D-8E87-B43B-92360AAAB2D7}"/>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1087408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3B63C-F851-04AA-2E39-6B2DFF6AB8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8FF75B-D812-4C30-668B-60392F09F5B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28CAC5-1631-15D0-C045-8A1273B2B279}"/>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EC35C7A2-3A23-1282-22A0-63F37FA516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597D94-8431-7584-AE51-8C999EB521F4}"/>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1986626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AC2F6-5BF4-BB27-2137-7E0D0D0B2D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32AB21-D0A3-59B9-831F-719E93A692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B2D076-C8B6-9D05-0C27-05B7595B7F53}"/>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5A2BFE43-C670-D73F-5D40-F5BAD286F4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6FDC2D-290F-657C-EE56-94CACD6836B1}"/>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2667456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731F-C2B8-5896-10FD-AAE38D2D5D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09332B-FC0C-B9E4-BB87-2C75CA8F983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548D97-9D22-ED27-EDDD-78D06ED02A8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6212EB-3CCF-D922-6C85-7DB1EEDF6E57}"/>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6" name="Footer Placeholder 5">
            <a:extLst>
              <a:ext uri="{FF2B5EF4-FFF2-40B4-BE49-F238E27FC236}">
                <a16:creationId xmlns:a16="http://schemas.microsoft.com/office/drawing/2014/main" id="{4DD92143-3C04-1FF6-3DF8-0BB654369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660776-DC8E-D8FA-2A2E-B1E6649E167C}"/>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1896528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DE0C3-DB6B-44E8-5BE0-923EC948391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9D0378-62A3-E8D0-C2CA-267F4887E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6A53BF-461D-3026-0F4E-D3B4B90E10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926E072-A1EC-EEBB-EDED-30FE900BED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A92EF9-C929-0337-D817-9DC1C907E3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03D649-B7FB-2125-AE19-BB073A8E35E7}"/>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8" name="Footer Placeholder 7">
            <a:extLst>
              <a:ext uri="{FF2B5EF4-FFF2-40B4-BE49-F238E27FC236}">
                <a16:creationId xmlns:a16="http://schemas.microsoft.com/office/drawing/2014/main" id="{7E4850E9-1B98-F3E8-726E-24D8B13A040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4C6422-96FB-7CEF-C7ED-C9526E84DCD9}"/>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455231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8F231-6D0D-16FD-0A5F-1EC5F3243E0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0C8F01-9875-F70D-B94A-8A1025D87C48}"/>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4" name="Footer Placeholder 3">
            <a:extLst>
              <a:ext uri="{FF2B5EF4-FFF2-40B4-BE49-F238E27FC236}">
                <a16:creationId xmlns:a16="http://schemas.microsoft.com/office/drawing/2014/main" id="{E1C39730-EFD8-044B-0CC9-ACAB34596A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5DF5C3-9264-02C8-A17A-43FA9758B097}"/>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2218545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81BC3D-0AC7-5BAF-5290-4D9EDFBD0486}"/>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3" name="Footer Placeholder 2">
            <a:extLst>
              <a:ext uri="{FF2B5EF4-FFF2-40B4-BE49-F238E27FC236}">
                <a16:creationId xmlns:a16="http://schemas.microsoft.com/office/drawing/2014/main" id="{BAA8B056-7500-8500-2DC8-B2A6BA4679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3037A4-53F2-99B1-E47A-9828FA7AE6A0}"/>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313976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09BF1-5EE7-E1DF-FDDA-A699997BB7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EDEA37-0C47-986D-2F1D-60F77626F9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9A1F5D-69EF-4B45-2213-D5C555EB1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B46C34-C964-D73E-3FFC-8C5210AAACAF}"/>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6" name="Footer Placeholder 5">
            <a:extLst>
              <a:ext uri="{FF2B5EF4-FFF2-40B4-BE49-F238E27FC236}">
                <a16:creationId xmlns:a16="http://schemas.microsoft.com/office/drawing/2014/main" id="{9B79E7A4-0682-CDC7-5396-E4DA0E1144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216D43-B68E-23D1-7646-0633FB6D597A}"/>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299832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67B3A-D1D9-F9F5-9B7D-BAA46E0F99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9E8308B-71D8-15F7-26AB-F09C709065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27875C7-E8CB-4C3A-48ED-68A661DF2E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FB49-BD11-F48F-C607-D31CA46733A9}"/>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6" name="Footer Placeholder 5">
            <a:extLst>
              <a:ext uri="{FF2B5EF4-FFF2-40B4-BE49-F238E27FC236}">
                <a16:creationId xmlns:a16="http://schemas.microsoft.com/office/drawing/2014/main" id="{1E57F881-F961-4D83-B3A4-35C171A124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5E9441-EDB7-663C-271E-80A14D907715}"/>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2102390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1280-0995-6A1A-B4DA-3EB4BF71D2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000DB0-8741-0C95-814E-4EE7E5A72F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4EA07E-7E4A-94CE-A700-DEE9EED422EE}"/>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495A0302-1899-2623-25FF-0AF42431F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69ECD6-89F5-E80F-B408-7F9B48755F15}"/>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1804097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18BFB4-9E75-6601-B85F-2104059EF7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7271D81-C8F9-E883-476E-8CCE7AA091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655E46-3E9C-7C75-8420-E40007E1908C}"/>
              </a:ext>
            </a:extLst>
          </p:cNvPr>
          <p:cNvSpPr>
            <a:spLocks noGrp="1"/>
          </p:cNvSpPr>
          <p:nvPr>
            <p:ph type="dt" sz="half" idx="10"/>
          </p:nvPr>
        </p:nvSpPr>
        <p:spPr/>
        <p:txBody>
          <a:body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0A369293-6CDA-867A-49A6-3B1F35077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F38EFA-1CC5-B8CB-EF28-C0DA4D9BB5B2}"/>
              </a:ext>
            </a:extLst>
          </p:cNvPr>
          <p:cNvSpPr>
            <a:spLocks noGrp="1"/>
          </p:cNvSpPr>
          <p:nvPr>
            <p:ph type="sldNum" sz="quarter" idx="12"/>
          </p:nvPr>
        </p:nvSpPr>
        <p:spPr/>
        <p:txBody>
          <a:bodyPr/>
          <a:lstStyle/>
          <a:p>
            <a:fld id="{C263AD1D-634B-40E3-B970-81051747BBDF}" type="slidenum">
              <a:rPr lang="en-US" smtClean="0"/>
              <a:t>‹#›</a:t>
            </a:fld>
            <a:endParaRPr lang="en-US"/>
          </a:p>
        </p:txBody>
      </p:sp>
    </p:spTree>
    <p:extLst>
      <p:ext uri="{BB962C8B-B14F-4D97-AF65-F5344CB8AC3E}">
        <p14:creationId xmlns:p14="http://schemas.microsoft.com/office/powerpoint/2010/main" val="1059585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07E9AE-BE6D-4803-7875-C2CB29D3AA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17FE2D-951B-8689-2AA7-96DB4AA4BA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CE2BE-1F03-90C1-0ACC-CAF28C2F08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B3788-DF0D-4532-A621-5FCE8C163484}" type="datetimeFigureOut">
              <a:rPr lang="en-US" smtClean="0"/>
              <a:t>1/5/2026</a:t>
            </a:fld>
            <a:endParaRPr lang="en-US"/>
          </a:p>
        </p:txBody>
      </p:sp>
      <p:sp>
        <p:nvSpPr>
          <p:cNvPr id="5" name="Footer Placeholder 4">
            <a:extLst>
              <a:ext uri="{FF2B5EF4-FFF2-40B4-BE49-F238E27FC236}">
                <a16:creationId xmlns:a16="http://schemas.microsoft.com/office/drawing/2014/main" id="{72BC50B0-CF8F-FEA9-E6F1-C29DDA7DCE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A20E63-7269-E5C7-E7EF-7058919E0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AD1D-634B-40E3-B970-81051747BBDF}" type="slidenum">
              <a:rPr lang="en-US" smtClean="0"/>
              <a:t>‹#›</a:t>
            </a:fld>
            <a:endParaRPr lang="en-US"/>
          </a:p>
        </p:txBody>
      </p:sp>
    </p:spTree>
    <p:extLst>
      <p:ext uri="{BB962C8B-B14F-4D97-AF65-F5344CB8AC3E}">
        <p14:creationId xmlns:p14="http://schemas.microsoft.com/office/powerpoint/2010/main" val="687810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jetbrains.com/pycharm/download/#section=windows" TargetMode="External"/><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98286-B14D-6D7F-BBAB-2DB9F0A45988}"/>
              </a:ext>
            </a:extLst>
          </p:cNvPr>
          <p:cNvSpPr>
            <a:spLocks noGrp="1"/>
          </p:cNvSpPr>
          <p:nvPr>
            <p:ph type="ctrTitle"/>
          </p:nvPr>
        </p:nvSpPr>
        <p:spPr>
          <a:xfrm>
            <a:off x="1113183" y="1041400"/>
            <a:ext cx="9144000" cy="2387600"/>
          </a:xfrm>
        </p:spPr>
        <p:txBody>
          <a:bodyPr/>
          <a:lstStyle/>
          <a:p>
            <a:r>
              <a:rPr lang="en-US" b="1" dirty="0">
                <a:solidFill>
                  <a:srgbClr val="002060"/>
                </a:solidFill>
                <a:latin typeface="Arial Black" panose="020B0A04020102020204" pitchFamily="34" charset="0"/>
              </a:rPr>
              <a:t>Python</a:t>
            </a:r>
            <a:endParaRPr lang="en-US" dirty="0"/>
          </a:p>
        </p:txBody>
      </p:sp>
      <p:sp>
        <p:nvSpPr>
          <p:cNvPr id="3" name="Subtitle 2">
            <a:extLst>
              <a:ext uri="{FF2B5EF4-FFF2-40B4-BE49-F238E27FC236}">
                <a16:creationId xmlns:a16="http://schemas.microsoft.com/office/drawing/2014/main" id="{67A695EB-5F1D-5210-5C70-2C0728611A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38139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1782D-BAA0-3499-BB68-70B7BBF9A1EC}"/>
              </a:ext>
            </a:extLst>
          </p:cNvPr>
          <p:cNvSpPr>
            <a:spLocks noGrp="1"/>
          </p:cNvSpPr>
          <p:nvPr>
            <p:ph type="title"/>
          </p:nvPr>
        </p:nvSpPr>
        <p:spPr/>
        <p:txBody>
          <a:bodyPr/>
          <a:lstStyle/>
          <a:p>
            <a:r>
              <a:rPr lang="en-US" dirty="0"/>
              <a:t>Intro</a:t>
            </a:r>
          </a:p>
        </p:txBody>
      </p:sp>
      <p:sp>
        <p:nvSpPr>
          <p:cNvPr id="3" name="Content Placeholder 2">
            <a:extLst>
              <a:ext uri="{FF2B5EF4-FFF2-40B4-BE49-F238E27FC236}">
                <a16:creationId xmlns:a16="http://schemas.microsoft.com/office/drawing/2014/main" id="{6C977D02-B406-8C79-13A4-C54887BB8BFB}"/>
              </a:ext>
            </a:extLst>
          </p:cNvPr>
          <p:cNvSpPr>
            <a:spLocks noGrp="1"/>
          </p:cNvSpPr>
          <p:nvPr>
            <p:ph idx="1"/>
          </p:nvPr>
        </p:nvSpPr>
        <p:spPr/>
        <p:txBody>
          <a:bodyPr/>
          <a:lstStyle/>
          <a:p>
            <a:r>
              <a:rPr lang="en-US" b="0" i="0" dirty="0">
                <a:effectLst/>
                <a:latin typeface="-apple-system"/>
              </a:rPr>
              <a:t>What is Programming: </a:t>
            </a:r>
            <a:r>
              <a:rPr lang="en-US" b="1" dirty="0">
                <a:latin typeface="-apple-system"/>
              </a:rPr>
              <a:t>Instructions have given to machine to do some tasks using Programming </a:t>
            </a:r>
            <a:r>
              <a:rPr lang="en-US" b="1" dirty="0"/>
              <a:t>languages.</a:t>
            </a:r>
          </a:p>
          <a:p>
            <a:r>
              <a:rPr lang="en-US" b="1" dirty="0">
                <a:solidFill>
                  <a:schemeClr val="bg1"/>
                </a:solidFill>
              </a:rPr>
              <a:t>.</a:t>
            </a:r>
          </a:p>
          <a:p>
            <a:r>
              <a:rPr lang="en-US" dirty="0"/>
              <a:t>Programming languages: </a:t>
            </a:r>
            <a:r>
              <a:rPr lang="en-US" b="1" i="0" dirty="0">
                <a:solidFill>
                  <a:srgbClr val="000000"/>
                </a:solidFill>
                <a:effectLst/>
                <a:latin typeface="Roboto" panose="02000000000000000000" pitchFamily="2" charset="0"/>
              </a:rPr>
              <a:t>It is a way of communication that humans understand because it is close to human language converted inside the machine into 0 , 1 </a:t>
            </a:r>
          </a:p>
          <a:p>
            <a:endParaRPr lang="en-US" dirty="0"/>
          </a:p>
        </p:txBody>
      </p:sp>
    </p:spTree>
    <p:extLst>
      <p:ext uri="{BB962C8B-B14F-4D97-AF65-F5344CB8AC3E}">
        <p14:creationId xmlns:p14="http://schemas.microsoft.com/office/powerpoint/2010/main" val="904038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DB8F8-13D9-5BF8-DBCE-D3688729810A}"/>
              </a:ext>
            </a:extLst>
          </p:cNvPr>
          <p:cNvSpPr>
            <a:spLocks noGrp="1"/>
          </p:cNvSpPr>
          <p:nvPr>
            <p:ph type="title"/>
          </p:nvPr>
        </p:nvSpPr>
        <p:spPr/>
        <p:txBody>
          <a:bodyPr/>
          <a:lstStyle/>
          <a:p>
            <a:r>
              <a:rPr lang="en-US" dirty="0"/>
              <a:t>Types of Programming languages </a:t>
            </a:r>
          </a:p>
        </p:txBody>
      </p:sp>
      <p:sp>
        <p:nvSpPr>
          <p:cNvPr id="3" name="Content Placeholder 2">
            <a:extLst>
              <a:ext uri="{FF2B5EF4-FFF2-40B4-BE49-F238E27FC236}">
                <a16:creationId xmlns:a16="http://schemas.microsoft.com/office/drawing/2014/main" id="{F6AB913A-D634-0992-52C8-2C5717C96C4B}"/>
              </a:ext>
            </a:extLst>
          </p:cNvPr>
          <p:cNvSpPr>
            <a:spLocks noGrp="1"/>
          </p:cNvSpPr>
          <p:nvPr>
            <p:ph idx="1"/>
          </p:nvPr>
        </p:nvSpPr>
        <p:spPr/>
        <p:txBody>
          <a:bodyPr/>
          <a:lstStyle/>
          <a:p>
            <a:pPr>
              <a:buFont typeface="Wingdings" panose="05000000000000000000" pitchFamily="2" charset="2"/>
              <a:buChar char="Ø"/>
            </a:pPr>
            <a:r>
              <a:rPr lang="en-US" dirty="0"/>
              <a:t>Low level , High level</a:t>
            </a:r>
          </a:p>
          <a:p>
            <a:pPr>
              <a:buFont typeface="Wingdings" panose="05000000000000000000" pitchFamily="2" charset="2"/>
              <a:buChar char="Ø"/>
            </a:pPr>
            <a:r>
              <a:rPr lang="en-US" dirty="0"/>
              <a:t>Interpreted , Compiled</a:t>
            </a:r>
          </a:p>
          <a:p>
            <a:pPr>
              <a:buFont typeface="Wingdings" panose="05000000000000000000" pitchFamily="2" charset="2"/>
              <a:buChar char="Ø"/>
            </a:pPr>
            <a:r>
              <a:rPr lang="en-US" dirty="0"/>
              <a:t>Programming ,Scripted</a:t>
            </a:r>
          </a:p>
          <a:p>
            <a:pPr>
              <a:buFont typeface="Wingdings" panose="05000000000000000000" pitchFamily="2" charset="2"/>
              <a:buChar char="Ø"/>
            </a:pPr>
            <a:r>
              <a:rPr lang="en-US" dirty="0"/>
              <a:t>Open source , not open source</a:t>
            </a:r>
          </a:p>
          <a:p>
            <a:pPr>
              <a:buFont typeface="Wingdings" panose="05000000000000000000" pitchFamily="2" charset="2"/>
              <a:buChar char="Ø"/>
            </a:pPr>
            <a:r>
              <a:rPr lang="en-US" dirty="0"/>
              <a:t>Support OOP , not supporting OOP </a:t>
            </a:r>
          </a:p>
        </p:txBody>
      </p:sp>
    </p:spTree>
    <p:extLst>
      <p:ext uri="{BB962C8B-B14F-4D97-AF65-F5344CB8AC3E}">
        <p14:creationId xmlns:p14="http://schemas.microsoft.com/office/powerpoint/2010/main" val="1986167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96EB7-8A9B-C301-7177-335BFD86BB58}"/>
              </a:ext>
            </a:extLst>
          </p:cNvPr>
          <p:cNvSpPr>
            <a:spLocks noGrp="1"/>
          </p:cNvSpPr>
          <p:nvPr>
            <p:ph type="title"/>
          </p:nvPr>
        </p:nvSpPr>
        <p:spPr/>
        <p:txBody>
          <a:bodyPr/>
          <a:lstStyle/>
          <a:p>
            <a:r>
              <a:rPr lang="en-US" b="1" dirty="0">
                <a:solidFill>
                  <a:srgbClr val="002060"/>
                </a:solidFill>
                <a:latin typeface="Arial Black" panose="020B0A04020102020204" pitchFamily="34" charset="0"/>
              </a:rPr>
              <a:t>What’s Python?</a:t>
            </a:r>
            <a:endParaRPr lang="en-US" dirty="0"/>
          </a:p>
        </p:txBody>
      </p:sp>
      <p:sp>
        <p:nvSpPr>
          <p:cNvPr id="3" name="Content Placeholder 2">
            <a:extLst>
              <a:ext uri="{FF2B5EF4-FFF2-40B4-BE49-F238E27FC236}">
                <a16:creationId xmlns:a16="http://schemas.microsoft.com/office/drawing/2014/main" id="{7DE463B2-008A-783A-A725-2873D67F109F}"/>
              </a:ext>
            </a:extLst>
          </p:cNvPr>
          <p:cNvSpPr>
            <a:spLocks noGrp="1"/>
          </p:cNvSpPr>
          <p:nvPr>
            <p:ph idx="1"/>
          </p:nvPr>
        </p:nvSpPr>
        <p:spPr/>
        <p:txBody>
          <a:bodyPr>
            <a:normAutofit lnSpcReduction="10000"/>
          </a:bodyPr>
          <a:lstStyle/>
          <a:p>
            <a:r>
              <a:rPr lang="en-US" b="0" i="0" dirty="0">
                <a:effectLst/>
                <a:latin typeface="Segoe UI" panose="020B0502040204020203" pitchFamily="34" charset="0"/>
              </a:rPr>
              <a:t>Python has a simple, easy to learn syntax, which emphasizes readability. Applications written in Python can run on almost any computer, including those running Windows, macOS, and popular distributions of Linux. Furthermore, the ecosystem contains a rich set of development tools for writing, debugging, and publishing Python applications.</a:t>
            </a:r>
          </a:p>
          <a:p>
            <a:pPr marL="0" indent="0">
              <a:buNone/>
            </a:pPr>
            <a:endParaRPr lang="en-US" b="0" i="0" dirty="0">
              <a:effectLst/>
              <a:latin typeface="Segoe UI" panose="020B0502040204020203" pitchFamily="34" charset="0"/>
            </a:endParaRPr>
          </a:p>
          <a:p>
            <a:r>
              <a:rPr lang="en-US" b="0" i="0" dirty="0">
                <a:effectLst/>
                <a:latin typeface="Segoe UI" panose="020B0502040204020203" pitchFamily="34" charset="0"/>
              </a:rPr>
              <a:t>Python is one of the most popular and fastest growing programming languages in the world. It's used for all sorts of tasks, including web programming and data analysis, and it has emerged as </a:t>
            </a:r>
            <a:r>
              <a:rPr lang="en-US" b="0" i="1" dirty="0">
                <a:effectLst/>
                <a:latin typeface="Segoe UI" panose="020B0502040204020203" pitchFamily="34" charset="0"/>
              </a:rPr>
              <a:t>the language</a:t>
            </a:r>
            <a:r>
              <a:rPr lang="en-US" b="0" i="0" dirty="0">
                <a:effectLst/>
                <a:latin typeface="Segoe UI" panose="020B0502040204020203" pitchFamily="34" charset="0"/>
              </a:rPr>
              <a:t> to learn for machine learning.</a:t>
            </a:r>
          </a:p>
          <a:p>
            <a:endParaRPr lang="en-US" dirty="0">
              <a:latin typeface="Segoe UI" panose="020B0502040204020203" pitchFamily="34" charset="0"/>
            </a:endParaRPr>
          </a:p>
          <a:p>
            <a:endParaRPr lang="en-US" dirty="0"/>
          </a:p>
        </p:txBody>
      </p:sp>
    </p:spTree>
    <p:extLst>
      <p:ext uri="{BB962C8B-B14F-4D97-AF65-F5344CB8AC3E}">
        <p14:creationId xmlns:p14="http://schemas.microsoft.com/office/powerpoint/2010/main" val="440970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01C3-C714-15EB-6989-4070F8E2BC4E}"/>
              </a:ext>
            </a:extLst>
          </p:cNvPr>
          <p:cNvSpPr>
            <a:spLocks noGrp="1"/>
          </p:cNvSpPr>
          <p:nvPr>
            <p:ph type="title"/>
          </p:nvPr>
        </p:nvSpPr>
        <p:spPr/>
        <p:txBody>
          <a:bodyPr/>
          <a:lstStyle/>
          <a:p>
            <a:r>
              <a:rPr lang="en-US" b="1" dirty="0">
                <a:solidFill>
                  <a:srgbClr val="002060"/>
                </a:solidFill>
                <a:latin typeface="Arial Black" panose="020B0A04020102020204" pitchFamily="34" charset="0"/>
              </a:rPr>
              <a:t>Con.</a:t>
            </a:r>
            <a:endParaRPr lang="en-US" dirty="0"/>
          </a:p>
        </p:txBody>
      </p:sp>
      <p:sp>
        <p:nvSpPr>
          <p:cNvPr id="3" name="Content Placeholder 2">
            <a:extLst>
              <a:ext uri="{FF2B5EF4-FFF2-40B4-BE49-F238E27FC236}">
                <a16:creationId xmlns:a16="http://schemas.microsoft.com/office/drawing/2014/main" id="{607B8BC3-6830-675A-7342-0D100A3E24AE}"/>
              </a:ext>
            </a:extLst>
          </p:cNvPr>
          <p:cNvSpPr>
            <a:spLocks noGrp="1"/>
          </p:cNvSpPr>
          <p:nvPr>
            <p:ph idx="1"/>
          </p:nvPr>
        </p:nvSpPr>
        <p:spPr>
          <a:xfrm>
            <a:off x="838200" y="1431235"/>
            <a:ext cx="10515600" cy="4745728"/>
          </a:xfrm>
        </p:spPr>
        <p:txBody>
          <a:bodyPr>
            <a:normAutofit/>
          </a:bodyPr>
          <a:lstStyle/>
          <a:p>
            <a:r>
              <a:rPr lang="en-US" b="0" i="0" dirty="0">
                <a:effectLst/>
                <a:latin typeface="Segoe UI" panose="020B0502040204020203" pitchFamily="34" charset="0"/>
              </a:rPr>
              <a:t>Python is one of the most popular programming languages in the world. Created in the early 1990s, Python can be employed for a wide range of uses, from automating repetitive tasks and writing web apps to building machine learning models and implementing neural networks. Researchers, mathematicians, and data scientists in particular like Python because of its rich and easy to understand syntax and the wide range of open-source packages available.</a:t>
            </a:r>
            <a:r>
              <a:rPr lang="en-US" b="0" i="0" dirty="0">
                <a:solidFill>
                  <a:srgbClr val="E6E6E6"/>
                </a:solidFill>
                <a:effectLst/>
                <a:latin typeface="Segoe UI" panose="020B0502040204020203" pitchFamily="34" charset="0"/>
              </a:rPr>
              <a:t>.</a:t>
            </a:r>
          </a:p>
          <a:p>
            <a:r>
              <a:rPr lang="en-US" sz="2800" dirty="0"/>
              <a:t>An easy programming language, with powerful programming capabilities.</a:t>
            </a:r>
          </a:p>
          <a:p>
            <a:endParaRPr lang="en-US" dirty="0">
              <a:latin typeface="Segoe UI" panose="020B0502040204020203" pitchFamily="34" charset="0"/>
            </a:endParaRPr>
          </a:p>
          <a:p>
            <a:endParaRPr lang="en-US" dirty="0"/>
          </a:p>
        </p:txBody>
      </p:sp>
    </p:spTree>
    <p:extLst>
      <p:ext uri="{BB962C8B-B14F-4D97-AF65-F5344CB8AC3E}">
        <p14:creationId xmlns:p14="http://schemas.microsoft.com/office/powerpoint/2010/main" val="881911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38AF7-C1A1-9005-A188-72C430A43EFB}"/>
              </a:ext>
            </a:extLst>
          </p:cNvPr>
          <p:cNvSpPr>
            <a:spLocks noGrp="1"/>
          </p:cNvSpPr>
          <p:nvPr>
            <p:ph type="title"/>
          </p:nvPr>
        </p:nvSpPr>
        <p:spPr/>
        <p:txBody>
          <a:bodyPr/>
          <a:lstStyle/>
          <a:p>
            <a:r>
              <a:rPr lang="en-US" b="1" dirty="0">
                <a:solidFill>
                  <a:srgbClr val="002060"/>
                </a:solidFill>
                <a:latin typeface="Arial Black" panose="020B0A04020102020204" pitchFamily="34" charset="0"/>
              </a:rPr>
              <a:t>Con.</a:t>
            </a:r>
            <a:endParaRPr lang="en-US" dirty="0"/>
          </a:p>
        </p:txBody>
      </p:sp>
      <p:sp>
        <p:nvSpPr>
          <p:cNvPr id="3" name="Content Placeholder 2">
            <a:extLst>
              <a:ext uri="{FF2B5EF4-FFF2-40B4-BE49-F238E27FC236}">
                <a16:creationId xmlns:a16="http://schemas.microsoft.com/office/drawing/2014/main" id="{FE51C272-4B4F-594B-F2C1-C8B339E16010}"/>
              </a:ext>
            </a:extLst>
          </p:cNvPr>
          <p:cNvSpPr>
            <a:spLocks noGrp="1"/>
          </p:cNvSpPr>
          <p:nvPr>
            <p:ph idx="1"/>
          </p:nvPr>
        </p:nvSpPr>
        <p:spPr/>
        <p:txBody>
          <a:bodyPr>
            <a:normAutofit/>
          </a:bodyPr>
          <a:lstStyle/>
          <a:p>
            <a:r>
              <a:rPr lang="en-US" sz="3200" dirty="0"/>
              <a:t>Interpreted language</a:t>
            </a:r>
          </a:p>
          <a:p>
            <a:pPr lvl="1"/>
            <a:r>
              <a:rPr lang="en-US" sz="2800" dirty="0"/>
              <a:t>Not Compiled to a binary form of machine language.</a:t>
            </a:r>
          </a:p>
          <a:p>
            <a:pPr lvl="1"/>
            <a:r>
              <a:rPr lang="en-US" sz="2800" dirty="0"/>
              <a:t>Interpreter converts the code to binary ‘on the fly’ at each time it is run. (Slower)</a:t>
            </a:r>
          </a:p>
          <a:p>
            <a:pPr lvl="1"/>
            <a:endParaRPr lang="en-US" sz="2800" dirty="0"/>
          </a:p>
          <a:p>
            <a:endParaRPr lang="en-US" dirty="0"/>
          </a:p>
        </p:txBody>
      </p:sp>
    </p:spTree>
    <p:extLst>
      <p:ext uri="{BB962C8B-B14F-4D97-AF65-F5344CB8AC3E}">
        <p14:creationId xmlns:p14="http://schemas.microsoft.com/office/powerpoint/2010/main" val="3656540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FB820-3A4E-6EC6-1BF7-43959C0F2408}"/>
              </a:ext>
            </a:extLst>
          </p:cNvPr>
          <p:cNvSpPr>
            <a:spLocks noGrp="1"/>
          </p:cNvSpPr>
          <p:nvPr>
            <p:ph type="title"/>
          </p:nvPr>
        </p:nvSpPr>
        <p:spPr/>
        <p:txBody>
          <a:bodyPr/>
          <a:lstStyle/>
          <a:p>
            <a:r>
              <a:rPr lang="en-US" b="1" dirty="0">
                <a:solidFill>
                  <a:srgbClr val="002060"/>
                </a:solidFill>
                <a:latin typeface="Arial Black" panose="020B0A04020102020204" pitchFamily="34" charset="0"/>
              </a:rPr>
              <a:t>Why Python?</a:t>
            </a:r>
            <a:endParaRPr lang="en-US" dirty="0"/>
          </a:p>
        </p:txBody>
      </p:sp>
      <p:sp>
        <p:nvSpPr>
          <p:cNvPr id="3" name="Content Placeholder 2">
            <a:extLst>
              <a:ext uri="{FF2B5EF4-FFF2-40B4-BE49-F238E27FC236}">
                <a16:creationId xmlns:a16="http://schemas.microsoft.com/office/drawing/2014/main" id="{9763A8C6-B7B0-3024-3154-9CDC7ECF5BA1}"/>
              </a:ext>
            </a:extLst>
          </p:cNvPr>
          <p:cNvSpPr>
            <a:spLocks noGrp="1"/>
          </p:cNvSpPr>
          <p:nvPr>
            <p:ph idx="1"/>
          </p:nvPr>
        </p:nvSpPr>
        <p:spPr/>
        <p:txBody>
          <a:bodyPr/>
          <a:lstStyle/>
          <a:p>
            <a:r>
              <a:rPr lang="en-US" dirty="0"/>
              <a:t>Easier syntax, more readable, shorter programs.</a:t>
            </a:r>
          </a:p>
          <a:p>
            <a:r>
              <a:rPr lang="en-US" dirty="0"/>
              <a:t>Has large libraries of various built-in functions. </a:t>
            </a:r>
          </a:p>
          <a:p>
            <a:r>
              <a:rPr lang="en-US" dirty="0"/>
              <a:t>Portable, runs on Unix, Mac, and windows.</a:t>
            </a:r>
          </a:p>
          <a:p>
            <a:r>
              <a:rPr lang="en-US" dirty="0"/>
              <a:t>Scalable, used for small and large programs.</a:t>
            </a:r>
          </a:p>
          <a:p>
            <a:r>
              <a:rPr lang="en-US" dirty="0"/>
              <a:t>Interactive, can write and test programs from terminal.</a:t>
            </a:r>
          </a:p>
          <a:p>
            <a:endParaRPr lang="en-US" dirty="0"/>
          </a:p>
        </p:txBody>
      </p:sp>
    </p:spTree>
    <p:extLst>
      <p:ext uri="{BB962C8B-B14F-4D97-AF65-F5344CB8AC3E}">
        <p14:creationId xmlns:p14="http://schemas.microsoft.com/office/powerpoint/2010/main" val="35073141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56229-6D23-6269-5594-FF36442F2C7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F8BB3A4-D366-48FD-A054-8A9AD6729A7C}"/>
              </a:ext>
            </a:extLst>
          </p:cNvPr>
          <p:cNvSpPr>
            <a:spLocks noGrp="1"/>
          </p:cNvSpPr>
          <p:nvPr>
            <p:ph idx="1"/>
          </p:nvPr>
        </p:nvSpPr>
        <p:spPr/>
        <p:txBody>
          <a:bodyPr/>
          <a:lstStyle/>
          <a:p>
            <a:pPr>
              <a:buFont typeface="Wingdings" panose="05000000000000000000" pitchFamily="2" charset="2"/>
              <a:buChar char="q"/>
            </a:pPr>
            <a:r>
              <a:rPr lang="en-US" dirty="0"/>
              <a:t>Indentation (</a:t>
            </a:r>
            <a:r>
              <a:rPr lang="en-US" dirty="0">
                <a:solidFill>
                  <a:schemeClr val="accent1">
                    <a:lumMod val="75000"/>
                  </a:schemeClr>
                </a:solidFill>
              </a:rPr>
              <a:t>very important</a:t>
            </a:r>
            <a:r>
              <a:rPr lang="en-US" dirty="0"/>
              <a:t>)</a:t>
            </a:r>
          </a:p>
          <a:p>
            <a:r>
              <a:rPr lang="en-US" dirty="0"/>
              <a:t>Indentation is one of the greatest future in python.</a:t>
            </a:r>
          </a:p>
          <a:p>
            <a:pPr>
              <a:buFont typeface="Wingdings" panose="05000000000000000000" pitchFamily="2" charset="2"/>
              <a:buChar char="q"/>
            </a:pPr>
            <a:r>
              <a:rPr lang="en-US" dirty="0"/>
              <a:t>It’s free(open source)</a:t>
            </a:r>
          </a:p>
          <a:p>
            <a:r>
              <a:rPr lang="en-US" dirty="0"/>
              <a:t>Downloading and installing Python is free and easy Source code is easily accessible.</a:t>
            </a:r>
          </a:p>
          <a:p>
            <a:pPr>
              <a:buFont typeface="Wingdings" panose="05000000000000000000" pitchFamily="2" charset="2"/>
              <a:buChar char="q"/>
            </a:pPr>
            <a:r>
              <a:rPr lang="en-US" dirty="0"/>
              <a:t>Python is object-oriented</a:t>
            </a:r>
          </a:p>
          <a:p>
            <a:r>
              <a:rPr lang="en-US" dirty="0"/>
              <a:t>Structure supports four concepts </a:t>
            </a:r>
          </a:p>
        </p:txBody>
      </p:sp>
    </p:spTree>
    <p:extLst>
      <p:ext uri="{BB962C8B-B14F-4D97-AF65-F5344CB8AC3E}">
        <p14:creationId xmlns:p14="http://schemas.microsoft.com/office/powerpoint/2010/main" val="2935987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1A73C-F799-051D-F0C3-D12A3D4BCA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40FA28-7753-4009-C130-39E8C02CA66D}"/>
              </a:ext>
            </a:extLst>
          </p:cNvPr>
          <p:cNvSpPr>
            <a:spLocks noGrp="1"/>
          </p:cNvSpPr>
          <p:nvPr>
            <p:ph idx="1"/>
          </p:nvPr>
        </p:nvSpPr>
        <p:spPr/>
        <p:txBody>
          <a:bodyPr/>
          <a:lstStyle/>
          <a:p>
            <a:pPr>
              <a:buFont typeface="Wingdings" panose="05000000000000000000" pitchFamily="2" charset="2"/>
              <a:buChar char="q"/>
            </a:pPr>
            <a:r>
              <a:rPr lang="en-US" dirty="0"/>
              <a:t>It’s powerful</a:t>
            </a:r>
          </a:p>
          <a:p>
            <a:pPr marL="0" indent="0">
              <a:buNone/>
            </a:pPr>
            <a:r>
              <a:rPr lang="en-US" dirty="0"/>
              <a:t>Library utilities</a:t>
            </a:r>
          </a:p>
          <a:p>
            <a:pPr marL="0" indent="0">
              <a:buNone/>
            </a:pPr>
            <a:r>
              <a:rPr lang="en-US" dirty="0"/>
              <a:t>Third party utilities(</a:t>
            </a:r>
            <a:r>
              <a:rPr lang="en-US" dirty="0" err="1"/>
              <a:t>Numeric,Numpy,Pandas</a:t>
            </a:r>
            <a:r>
              <a:rPr lang="en-US" dirty="0"/>
              <a:t>)</a:t>
            </a:r>
          </a:p>
          <a:p>
            <a:pPr>
              <a:buFont typeface="Wingdings" panose="05000000000000000000" pitchFamily="2" charset="2"/>
              <a:buChar char="q"/>
            </a:pPr>
            <a:r>
              <a:rPr lang="en-US" dirty="0"/>
              <a:t>It’s easy to use</a:t>
            </a:r>
          </a:p>
          <a:p>
            <a:pPr>
              <a:buFont typeface="Wingdings" panose="05000000000000000000" pitchFamily="2" charset="2"/>
              <a:buChar char="q"/>
            </a:pPr>
            <a:r>
              <a:rPr lang="en-US" dirty="0"/>
              <a:t>It’s easy to learn</a:t>
            </a:r>
          </a:p>
        </p:txBody>
      </p:sp>
    </p:spTree>
    <p:extLst>
      <p:ext uri="{BB962C8B-B14F-4D97-AF65-F5344CB8AC3E}">
        <p14:creationId xmlns:p14="http://schemas.microsoft.com/office/powerpoint/2010/main" val="529637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34BEF-5EEE-936C-A53C-B4176EE3E15A}"/>
              </a:ext>
            </a:extLst>
          </p:cNvPr>
          <p:cNvSpPr>
            <a:spLocks noGrp="1"/>
          </p:cNvSpPr>
          <p:nvPr>
            <p:ph type="title"/>
          </p:nvPr>
        </p:nvSpPr>
        <p:spPr/>
        <p:txBody>
          <a:bodyPr/>
          <a:lstStyle/>
          <a:p>
            <a:r>
              <a:rPr lang="en-US" dirty="0"/>
              <a:t>Compiler vs Interpreter</a:t>
            </a:r>
          </a:p>
        </p:txBody>
      </p:sp>
      <p:pic>
        <p:nvPicPr>
          <p:cNvPr id="6" name="Picture 2" descr="https://cdn.guru99.com/images/1/053018_0616_CompilervsI1.png">
            <a:extLst>
              <a:ext uri="{FF2B5EF4-FFF2-40B4-BE49-F238E27FC236}">
                <a16:creationId xmlns:a16="http://schemas.microsoft.com/office/drawing/2014/main" id="{89ABE597-6F25-D208-2F1B-F2763DD9EEA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6278" y="1934818"/>
            <a:ext cx="8209722" cy="3719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0324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1812-1DC0-287E-AD49-3575316856F2}"/>
              </a:ext>
            </a:extLst>
          </p:cNvPr>
          <p:cNvSpPr>
            <a:spLocks noGrp="1"/>
          </p:cNvSpPr>
          <p:nvPr>
            <p:ph type="title"/>
          </p:nvPr>
        </p:nvSpPr>
        <p:spPr/>
        <p:txBody>
          <a:bodyPr/>
          <a:lstStyle/>
          <a:p>
            <a:r>
              <a:rPr lang="en-US" dirty="0"/>
              <a:t>Compiler vs Interpreter</a:t>
            </a:r>
          </a:p>
        </p:txBody>
      </p:sp>
      <p:sp>
        <p:nvSpPr>
          <p:cNvPr id="3" name="Content Placeholder 2">
            <a:extLst>
              <a:ext uri="{FF2B5EF4-FFF2-40B4-BE49-F238E27FC236}">
                <a16:creationId xmlns:a16="http://schemas.microsoft.com/office/drawing/2014/main" id="{143CDF45-EF63-6B06-6668-8EB103471D9B}"/>
              </a:ext>
            </a:extLst>
          </p:cNvPr>
          <p:cNvSpPr>
            <a:spLocks noGrp="1"/>
          </p:cNvSpPr>
          <p:nvPr>
            <p:ph idx="1"/>
          </p:nvPr>
        </p:nvSpPr>
        <p:spPr/>
        <p:txBody>
          <a:bodyPr/>
          <a:lstStyle/>
          <a:p>
            <a:r>
              <a:rPr lang="en-US" dirty="0"/>
              <a:t>Compiler transforms code written in a high-level programming language into the machine code, at once, before program runs, whereas an Interpreter coverts each high-level program statement, one by one, into the machine code, during program run.</a:t>
            </a:r>
          </a:p>
          <a:p>
            <a:r>
              <a:rPr lang="en-US" dirty="0"/>
              <a:t>Compiled code runs faster while interpreted code runs slower.</a:t>
            </a:r>
          </a:p>
          <a:p>
            <a:r>
              <a:rPr lang="en-US" dirty="0"/>
              <a:t>Compiler displays all errors after compilation, on the other hand, the Interpreter displays errors of each line one by one.</a:t>
            </a:r>
          </a:p>
          <a:p>
            <a:r>
              <a:rPr lang="en-US" dirty="0"/>
              <a:t>Compiler takes an entire program whereas the Interpreter takes a single line of code</a:t>
            </a:r>
          </a:p>
          <a:p>
            <a:endParaRPr lang="en-US" dirty="0"/>
          </a:p>
          <a:p>
            <a:endParaRPr lang="en-US" dirty="0"/>
          </a:p>
        </p:txBody>
      </p:sp>
    </p:spTree>
    <p:extLst>
      <p:ext uri="{BB962C8B-B14F-4D97-AF65-F5344CB8AC3E}">
        <p14:creationId xmlns:p14="http://schemas.microsoft.com/office/powerpoint/2010/main" val="3658782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FF382-979B-A6D9-58C2-AC382892E1C4}"/>
              </a:ext>
            </a:extLst>
          </p:cNvPr>
          <p:cNvSpPr>
            <a:spLocks noGrp="1"/>
          </p:cNvSpPr>
          <p:nvPr>
            <p:ph type="title"/>
          </p:nvPr>
        </p:nvSpPr>
        <p:spPr/>
        <p:txBody>
          <a:bodyPr/>
          <a:lstStyle/>
          <a:p>
            <a:r>
              <a:rPr lang="en-US" dirty="0"/>
              <a:t>Installing Python</a:t>
            </a:r>
          </a:p>
        </p:txBody>
      </p:sp>
      <p:sp>
        <p:nvSpPr>
          <p:cNvPr id="3" name="Content Placeholder 2">
            <a:extLst>
              <a:ext uri="{FF2B5EF4-FFF2-40B4-BE49-F238E27FC236}">
                <a16:creationId xmlns:a16="http://schemas.microsoft.com/office/drawing/2014/main" id="{B5BE084C-6579-4EC5-2330-22689CFCF421}"/>
              </a:ext>
            </a:extLst>
          </p:cNvPr>
          <p:cNvSpPr>
            <a:spLocks noGrp="1"/>
          </p:cNvSpPr>
          <p:nvPr>
            <p:ph idx="1"/>
          </p:nvPr>
        </p:nvSpPr>
        <p:spPr/>
        <p:txBody>
          <a:bodyPr/>
          <a:lstStyle/>
          <a:p>
            <a:r>
              <a:rPr lang="en-US" dirty="0">
                <a:hlinkClick r:id="rId2"/>
              </a:rPr>
              <a:t>https://www.python.org/downloads/</a:t>
            </a:r>
            <a:endParaRPr lang="en-US" dirty="0"/>
          </a:p>
          <a:p>
            <a:endParaRPr lang="en-US" dirty="0"/>
          </a:p>
          <a:p>
            <a:r>
              <a:rPr lang="en-US" dirty="0"/>
              <a:t>PyCharm</a:t>
            </a:r>
          </a:p>
          <a:p>
            <a:r>
              <a:rPr lang="en-US" dirty="0">
                <a:hlinkClick r:id="rId3"/>
              </a:rPr>
              <a:t>https://www.jetbrains.com/pycharm/download/#section=windows</a:t>
            </a:r>
            <a:endParaRPr lang="en-US" dirty="0"/>
          </a:p>
          <a:p>
            <a:endParaRPr lang="en-US" dirty="0"/>
          </a:p>
          <a:p>
            <a:r>
              <a:rPr lang="en-US" dirty="0"/>
              <a:t>OR-&gt;&gt;&gt; Anaconda</a:t>
            </a:r>
          </a:p>
          <a:p>
            <a:r>
              <a:rPr lang="en-US" dirty="0"/>
              <a:t>https://www.anaconda.com/products/distribution/start-coding-immediately</a:t>
            </a:r>
          </a:p>
        </p:txBody>
      </p:sp>
    </p:spTree>
    <p:extLst>
      <p:ext uri="{BB962C8B-B14F-4D97-AF65-F5344CB8AC3E}">
        <p14:creationId xmlns:p14="http://schemas.microsoft.com/office/powerpoint/2010/main" val="66114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3730D-1E96-FC8B-5249-3B4613DED2D3}"/>
              </a:ext>
            </a:extLst>
          </p:cNvPr>
          <p:cNvSpPr>
            <a:spLocks noGrp="1"/>
          </p:cNvSpPr>
          <p:nvPr>
            <p:ph type="title"/>
          </p:nvPr>
        </p:nvSpPr>
        <p:spPr/>
        <p:txBody>
          <a:bodyPr/>
          <a:lstStyle/>
          <a:p>
            <a:r>
              <a:rPr lang="fi-FI" b="1" dirty="0">
                <a:solidFill>
                  <a:srgbClr val="002060"/>
                </a:solidFill>
                <a:latin typeface="Arial Black" panose="020B0A04020102020204" pitchFamily="34" charset="0"/>
              </a:rPr>
              <a:t>Interactive Programming</a:t>
            </a:r>
            <a:endParaRPr lang="en-US" dirty="0"/>
          </a:p>
        </p:txBody>
      </p:sp>
      <p:sp>
        <p:nvSpPr>
          <p:cNvPr id="3" name="Content Placeholder 2">
            <a:extLst>
              <a:ext uri="{FF2B5EF4-FFF2-40B4-BE49-F238E27FC236}">
                <a16:creationId xmlns:a16="http://schemas.microsoft.com/office/drawing/2014/main" id="{C4D45125-01BA-61DC-545D-0846947CF1FD}"/>
              </a:ext>
            </a:extLst>
          </p:cNvPr>
          <p:cNvSpPr>
            <a:spLocks noGrp="1"/>
          </p:cNvSpPr>
          <p:nvPr>
            <p:ph idx="1"/>
          </p:nvPr>
        </p:nvSpPr>
        <p:spPr/>
        <p:txBody>
          <a:bodyPr>
            <a:normAutofit fontScale="92500" lnSpcReduction="20000"/>
          </a:bodyPr>
          <a:lstStyle/>
          <a:p>
            <a:pPr marL="0" indent="0" algn="l" rtl="0" eaLnBrk="1" latinLnBrk="0" hangingPunct="1">
              <a:spcBef>
                <a:spcPts val="0"/>
              </a:spcBef>
              <a:spcAft>
                <a:spcPts val="0"/>
              </a:spcAft>
            </a:pPr>
            <a:r>
              <a:rPr lang="fi-FI" sz="3200" kern="1200" baseline="-25000" dirty="0">
                <a:solidFill>
                  <a:srgbClr val="000000"/>
                </a:solidFill>
                <a:effectLst/>
                <a:latin typeface="Lucida Sans" panose="020B0602030504020204" pitchFamily="34" charset="0"/>
                <a:ea typeface="Cambria Math" panose="02040503050406030204" pitchFamily="18" charset="0"/>
                <a:cs typeface="Aldhabi" panose="01000000000000000000" pitchFamily="2" charset="-78"/>
              </a:rPr>
              <a:t>&gt;&gt;&gt; print(“Hello world!”)</a:t>
            </a:r>
            <a:endParaRPr lang="en-US" sz="3200" dirty="0">
              <a:effectLst/>
            </a:endParaRPr>
          </a:p>
          <a:p>
            <a:pPr marL="0" indent="0" algn="l" rtl="0" eaLnBrk="1" latinLnBrk="0" hangingPunct="1">
              <a:spcBef>
                <a:spcPts val="0"/>
              </a:spcBef>
              <a:spcAft>
                <a:spcPts val="0"/>
              </a:spcAft>
            </a:pPr>
            <a:r>
              <a:rPr lang="fi-FI" sz="3200" kern="1200" baseline="-25000" dirty="0">
                <a:solidFill>
                  <a:srgbClr val="0070C0"/>
                </a:solidFill>
                <a:effectLst/>
                <a:latin typeface="Lucida Sans" panose="020B0602030504020204" pitchFamily="34" charset="0"/>
                <a:ea typeface="Cambria Math" panose="02040503050406030204" pitchFamily="18" charset="0"/>
                <a:cs typeface="Aldhabi" panose="01000000000000000000" pitchFamily="2" charset="-78"/>
              </a:rPr>
              <a:t>Hello world!</a:t>
            </a:r>
            <a:endParaRPr lang="en-US" sz="3200" dirty="0">
              <a:effectLst/>
            </a:endParaRPr>
          </a:p>
          <a:p>
            <a:pPr>
              <a:lnSpc>
                <a:spcPct val="100000"/>
              </a:lnSpc>
              <a:spcBef>
                <a:spcPts val="0"/>
              </a:spcBef>
            </a:pPr>
            <a:r>
              <a:rPr lang="fi-FI" sz="2400" b="1" dirty="0">
                <a:solidFill>
                  <a:srgbClr val="002060"/>
                </a:solidFill>
                <a:latin typeface="Arial" panose="020B0604020202020204" pitchFamily="34" charset="0"/>
                <a:cs typeface="Arial" panose="020B0604020202020204" pitchFamily="34" charset="0"/>
              </a:rPr>
              <a:t>Python as Calculator</a:t>
            </a:r>
            <a:endParaRPr lang="fi-FI" sz="2400" b="1" baseline="-25000" dirty="0">
              <a:solidFill>
                <a:srgbClr val="002060"/>
              </a:solidFill>
              <a:latin typeface="Arial" panose="020B0604020202020204" pitchFamily="34" charset="0"/>
              <a:ea typeface="Cambria Math" panose="02040503050406030204" pitchFamily="18" charset="0"/>
              <a:cs typeface="Arial" panose="020B0604020202020204" pitchFamily="34" charset="0"/>
            </a:endParaRP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5+5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10</a:t>
            </a: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10.5-2*3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4.5</a:t>
            </a: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10**2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100</a:t>
            </a:r>
            <a:r>
              <a:rPr lang="fi-FI" sz="2800" baseline="-25000" dirty="0">
                <a:latin typeface="Lucida Sans" panose="020B0602030504020204" pitchFamily="34" charset="0"/>
                <a:ea typeface="Cambria Math" panose="02040503050406030204" pitchFamily="18" charset="0"/>
                <a:cs typeface="Aldhabi" panose="01000000000000000000" pitchFamily="2" charset="-78"/>
              </a:rPr>
              <a:t>  </a:t>
            </a:r>
            <a:r>
              <a:rPr lang="fi-FI" sz="4000" baseline="-25000" dirty="0"/>
              <a:t>			</a:t>
            </a:r>
            <a:r>
              <a:rPr lang="en-US" sz="2800" baseline="-25000" dirty="0">
                <a:solidFill>
                  <a:schemeClr val="accent2">
                    <a:lumMod val="50000"/>
                  </a:schemeClr>
                </a:solidFill>
              </a:rPr>
              <a:t>** is used to calculate powers</a:t>
            </a:r>
            <a:endParaRPr lang="fi-FI" sz="2800" baseline="-25000" dirty="0">
              <a:solidFill>
                <a:schemeClr val="accent2">
                  <a:lumMod val="50000"/>
                </a:schemeClr>
              </a:solidFill>
            </a:endParaRP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17.0 // 3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5.0</a:t>
            </a:r>
            <a:r>
              <a:rPr lang="fi-FI" sz="2800" baseline="-25000" dirty="0">
                <a:latin typeface="Lucida Sans" panose="020B0602030504020204" pitchFamily="34" charset="0"/>
                <a:ea typeface="Cambria Math" panose="02040503050406030204" pitchFamily="18" charset="0"/>
                <a:cs typeface="Aldhabi" panose="01000000000000000000" pitchFamily="2" charset="-78"/>
              </a:rPr>
              <a:t> </a:t>
            </a:r>
            <a:r>
              <a:rPr lang="fi-FI" sz="4000" baseline="-25000" dirty="0"/>
              <a:t>			</a:t>
            </a:r>
            <a:r>
              <a:rPr lang="en-US" sz="2800" baseline="-25000" dirty="0">
                <a:solidFill>
                  <a:srgbClr val="00B050"/>
                </a:solidFill>
              </a:rPr>
              <a:t>floor division discards the fractional part</a:t>
            </a:r>
            <a:endParaRPr lang="fi-FI" sz="2800" baseline="-25000" dirty="0">
              <a:solidFill>
                <a:srgbClr val="00B050"/>
              </a:solidFill>
            </a:endParaRP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17 % 3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2</a:t>
            </a:r>
            <a:r>
              <a:rPr lang="fi-FI" sz="4000" baseline="-25000" dirty="0"/>
              <a:t> 			</a:t>
            </a:r>
            <a:r>
              <a:rPr lang="en-US" sz="2800" baseline="-25000" dirty="0">
                <a:solidFill>
                  <a:srgbClr val="00B050"/>
                </a:solidFill>
              </a:rPr>
              <a:t>the % operator returns the remainder</a:t>
            </a:r>
            <a:endParaRPr lang="fi-FI" sz="2800" baseline="-25000" dirty="0">
              <a:solidFill>
                <a:srgbClr val="00B050"/>
              </a:solidFill>
            </a:endParaRPr>
          </a:p>
          <a:p>
            <a:pPr marL="0" indent="0">
              <a:lnSpc>
                <a:spcPct val="100000"/>
              </a:lnSpc>
              <a:spcBef>
                <a:spcPts val="0"/>
              </a:spcBef>
              <a:buNone/>
            </a:pPr>
            <a:r>
              <a:rPr lang="fi-FI" sz="2800" baseline="-25000" dirty="0">
                <a:latin typeface="Lucida Sans" panose="020B0602030504020204" pitchFamily="34" charset="0"/>
                <a:ea typeface="Cambria Math" panose="02040503050406030204" pitchFamily="18" charset="0"/>
                <a:cs typeface="Aldhabi" panose="01000000000000000000" pitchFamily="2" charset="-78"/>
              </a:rPr>
              <a:t>&gt;&gt;&gt; 5 * 3 + 2		</a:t>
            </a:r>
          </a:p>
          <a:p>
            <a:pPr marL="0" indent="0">
              <a:lnSpc>
                <a:spcPct val="100000"/>
              </a:lnSpc>
              <a:spcBef>
                <a:spcPts val="0"/>
              </a:spcBef>
              <a:buNone/>
            </a:pPr>
            <a:r>
              <a:rPr lang="fi-FI" sz="28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17</a:t>
            </a:r>
            <a:r>
              <a:rPr lang="fi-FI" sz="4000" baseline="-25000" dirty="0"/>
              <a:t>			</a:t>
            </a:r>
            <a:r>
              <a:rPr lang="fi-FI" sz="2800" baseline="-25000" dirty="0">
                <a:solidFill>
                  <a:srgbClr val="00B050"/>
                </a:solidFill>
              </a:rPr>
              <a:t>* takes precedence over +, -</a:t>
            </a:r>
          </a:p>
          <a:p>
            <a:endParaRPr lang="en-US" dirty="0"/>
          </a:p>
        </p:txBody>
      </p:sp>
    </p:spTree>
    <p:extLst>
      <p:ext uri="{BB962C8B-B14F-4D97-AF65-F5344CB8AC3E}">
        <p14:creationId xmlns:p14="http://schemas.microsoft.com/office/powerpoint/2010/main" val="3724240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82245"/>
            <a:ext cx="10515600" cy="854075"/>
          </a:xfrm>
        </p:spPr>
        <p:txBody>
          <a:bodyPr>
            <a:normAutofit/>
          </a:bodyPr>
          <a:lstStyle/>
          <a:p>
            <a:r>
              <a:rPr lang="fi-FI" b="1" dirty="0">
                <a:solidFill>
                  <a:srgbClr val="002060"/>
                </a:solidFill>
                <a:latin typeface="Arial Black" panose="020B0A04020102020204" pitchFamily="34" charset="0"/>
              </a:rPr>
              <a:t>Variables</a:t>
            </a:r>
          </a:p>
        </p:txBody>
      </p:sp>
      <p:sp>
        <p:nvSpPr>
          <p:cNvPr id="3" name="Content Placeholder 2"/>
          <p:cNvSpPr>
            <a:spLocks noGrp="1"/>
          </p:cNvSpPr>
          <p:nvPr>
            <p:ph idx="1"/>
          </p:nvPr>
        </p:nvSpPr>
        <p:spPr>
          <a:xfrm>
            <a:off x="777240" y="1036320"/>
            <a:ext cx="10662920" cy="5496560"/>
          </a:xfrm>
        </p:spPr>
        <p:txBody>
          <a:bodyPr>
            <a:normAutofit lnSpcReduction="10000"/>
          </a:bodyPr>
          <a:lstStyle/>
          <a:p>
            <a:pPr>
              <a:lnSpc>
                <a:spcPct val="150000"/>
              </a:lnSpc>
              <a:spcBef>
                <a:spcPts val="0"/>
              </a:spcBef>
            </a:pPr>
            <a:r>
              <a:rPr lang="fi-FI" b="1" i="1" dirty="0"/>
              <a:t>Variables</a:t>
            </a:r>
            <a:r>
              <a:rPr lang="fi-FI" i="1" dirty="0"/>
              <a:t> </a:t>
            </a:r>
            <a:r>
              <a:rPr lang="fi-FI" dirty="0"/>
              <a:t>are containers that store numbers, strings, and other data types and structures.</a:t>
            </a:r>
          </a:p>
          <a:p>
            <a:pPr>
              <a:lnSpc>
                <a:spcPct val="150000"/>
              </a:lnSpc>
              <a:spcBef>
                <a:spcPts val="0"/>
              </a:spcBef>
            </a:pPr>
            <a:r>
              <a:rPr lang="en-US" dirty="0"/>
              <a:t>Variables are names given to values that can be changed.</a:t>
            </a:r>
            <a:endParaRPr lang="fi-FI" dirty="0"/>
          </a:p>
          <a:p>
            <a:r>
              <a:rPr lang="en-US" dirty="0"/>
              <a:t>Variables are assigned values using t</a:t>
            </a:r>
            <a:r>
              <a:rPr lang="fi-FI" dirty="0"/>
              <a:t>he equal sign (=).</a:t>
            </a:r>
          </a:p>
          <a:p>
            <a:pPr marL="0" indent="0">
              <a:buNone/>
            </a:pPr>
            <a:r>
              <a:rPr lang="fi-FI" sz="3200" baseline="-25000" dirty="0">
                <a:latin typeface="Lucida Sans" panose="020B0602030504020204" pitchFamily="34" charset="0"/>
                <a:ea typeface="Cambria Math" panose="02040503050406030204" pitchFamily="18" charset="0"/>
                <a:cs typeface="Aldhabi" panose="01000000000000000000" pitchFamily="2" charset="-78"/>
              </a:rPr>
              <a:t>&gt;&gt;&gt; first_name = </a:t>
            </a:r>
            <a:r>
              <a:rPr lang="fi-FI" sz="3200"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’Ali'</a:t>
            </a:r>
          </a:p>
          <a:p>
            <a:pPr marL="0" indent="0">
              <a:lnSpc>
                <a:spcPct val="170000"/>
              </a:lnSpc>
              <a:spcBef>
                <a:spcPts val="0"/>
              </a:spcBef>
              <a:buNone/>
            </a:pPr>
            <a:r>
              <a:rPr lang="fi-FI" sz="3200" baseline="-25000" dirty="0">
                <a:latin typeface="Lucida Sans" panose="020B0602030504020204" pitchFamily="34" charset="0"/>
                <a:ea typeface="Cambria Math" panose="02040503050406030204" pitchFamily="18" charset="0"/>
                <a:cs typeface="Aldhabi" panose="01000000000000000000" pitchFamily="2" charset="-78"/>
              </a:rPr>
              <a:t>&gt;&gt;&gt; dna_sequence = </a:t>
            </a:r>
            <a:r>
              <a:rPr lang="fi-FI" sz="3200"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"gtcgcctaaccgtatatttttcccgt"</a:t>
            </a:r>
            <a:r>
              <a:rPr lang="fi-FI" sz="3200" baseline="-25000" dirty="0">
                <a:latin typeface="Lucida Sans" panose="020B0602030504020204" pitchFamily="34" charset="0"/>
                <a:ea typeface="Cambria Math" panose="02040503050406030204" pitchFamily="18" charset="0"/>
                <a:cs typeface="Aldhabi" panose="01000000000000000000" pitchFamily="2" charset="-78"/>
              </a:rPr>
              <a:t>		</a:t>
            </a:r>
          </a:p>
          <a:p>
            <a:r>
              <a:rPr lang="fi-FI" sz="3200" dirty="0"/>
              <a:t>A variable cannot be used if not assigned a value, an error occurs.</a:t>
            </a:r>
          </a:p>
          <a:p>
            <a:pPr marL="0" indent="0">
              <a:lnSpc>
                <a:spcPct val="170000"/>
              </a:lnSpc>
              <a:spcBef>
                <a:spcPts val="0"/>
              </a:spcBef>
              <a:buNone/>
            </a:pPr>
            <a:r>
              <a:rPr lang="fi-FI" sz="3200" baseline="-25000" dirty="0">
                <a:latin typeface="Lucida Sans" panose="020B0602030504020204" pitchFamily="34" charset="0"/>
                <a:ea typeface="Cambria Math" panose="02040503050406030204" pitchFamily="18" charset="0"/>
                <a:cs typeface="Aldhabi" panose="01000000000000000000" pitchFamily="2" charset="-78"/>
              </a:rPr>
              <a:t>&gt;&gt;&gt; dna		</a:t>
            </a:r>
          </a:p>
          <a:p>
            <a:pPr marL="0" indent="0">
              <a:lnSpc>
                <a:spcPct val="170000"/>
              </a:lnSpc>
              <a:spcBef>
                <a:spcPts val="0"/>
              </a:spcBef>
              <a:buNone/>
            </a:pPr>
            <a:r>
              <a:rPr lang="en-US" sz="3200" baseline="-25000" dirty="0" err="1">
                <a:solidFill>
                  <a:srgbClr val="FF0000"/>
                </a:solidFill>
                <a:latin typeface="Lucida Sans" panose="020B0602030504020204" pitchFamily="34" charset="0"/>
                <a:ea typeface="Cambria Math" panose="02040503050406030204" pitchFamily="18" charset="0"/>
                <a:cs typeface="Aldhabi" panose="01000000000000000000" pitchFamily="2" charset="-78"/>
              </a:rPr>
              <a:t>NameError</a:t>
            </a:r>
            <a:r>
              <a:rPr lang="en-US" sz="3200" baseline="-25000" dirty="0">
                <a:solidFill>
                  <a:srgbClr val="FF0000"/>
                </a:solidFill>
                <a:latin typeface="Lucida Sans" panose="020B0602030504020204" pitchFamily="34" charset="0"/>
                <a:ea typeface="Cambria Math" panose="02040503050406030204" pitchFamily="18" charset="0"/>
                <a:cs typeface="Aldhabi" panose="01000000000000000000" pitchFamily="2" charset="-78"/>
              </a:rPr>
              <a:t>: name '</a:t>
            </a:r>
            <a:r>
              <a:rPr lang="en-US" sz="3200" baseline="-25000" dirty="0" err="1">
                <a:solidFill>
                  <a:srgbClr val="FF0000"/>
                </a:solidFill>
                <a:latin typeface="Lucida Sans" panose="020B0602030504020204" pitchFamily="34" charset="0"/>
                <a:ea typeface="Cambria Math" panose="02040503050406030204" pitchFamily="18" charset="0"/>
                <a:cs typeface="Aldhabi" panose="01000000000000000000" pitchFamily="2" charset="-78"/>
              </a:rPr>
              <a:t>dna</a:t>
            </a:r>
            <a:r>
              <a:rPr lang="en-US" sz="3200" baseline="-25000" dirty="0">
                <a:solidFill>
                  <a:srgbClr val="FF0000"/>
                </a:solidFill>
                <a:latin typeface="Lucida Sans" panose="020B0602030504020204" pitchFamily="34" charset="0"/>
                <a:ea typeface="Cambria Math" panose="02040503050406030204" pitchFamily="18" charset="0"/>
                <a:cs typeface="Aldhabi" panose="01000000000000000000" pitchFamily="2" charset="-78"/>
              </a:rPr>
              <a:t>' is not defined</a:t>
            </a:r>
            <a:endParaRPr lang="fi-FI" sz="3200" baseline="-25000" dirty="0">
              <a:solidFill>
                <a:srgbClr val="00B050"/>
              </a:solidFill>
            </a:endParaRPr>
          </a:p>
        </p:txBody>
      </p:sp>
    </p:spTree>
    <p:extLst>
      <p:ext uri="{BB962C8B-B14F-4D97-AF65-F5344CB8AC3E}">
        <p14:creationId xmlns:p14="http://schemas.microsoft.com/office/powerpoint/2010/main" val="2657348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82245"/>
            <a:ext cx="10515600" cy="854075"/>
          </a:xfrm>
        </p:spPr>
        <p:txBody>
          <a:bodyPr>
            <a:normAutofit/>
          </a:bodyPr>
          <a:lstStyle/>
          <a:p>
            <a:r>
              <a:rPr lang="fi-FI" b="1" dirty="0">
                <a:solidFill>
                  <a:srgbClr val="002060"/>
                </a:solidFill>
                <a:latin typeface="Arial Black" panose="020B0A04020102020204" pitchFamily="34" charset="0"/>
              </a:rPr>
              <a:t>Variables</a:t>
            </a:r>
            <a:endParaRPr lang="fi-FI" b="1" dirty="0"/>
          </a:p>
        </p:txBody>
      </p:sp>
      <p:sp>
        <p:nvSpPr>
          <p:cNvPr id="3" name="Content Placeholder 2"/>
          <p:cNvSpPr>
            <a:spLocks noGrp="1"/>
          </p:cNvSpPr>
          <p:nvPr>
            <p:ph idx="1"/>
          </p:nvPr>
        </p:nvSpPr>
        <p:spPr>
          <a:xfrm>
            <a:off x="736600" y="1188720"/>
            <a:ext cx="10713720" cy="5140960"/>
          </a:xfrm>
        </p:spPr>
        <p:txBody>
          <a:bodyPr>
            <a:normAutofit lnSpcReduction="10000"/>
          </a:bodyPr>
          <a:lstStyle/>
          <a:p>
            <a:r>
              <a:rPr lang="en-US" sz="4000" b="1" dirty="0">
                <a:solidFill>
                  <a:srgbClr val="7030A0"/>
                </a:solidFill>
              </a:rPr>
              <a:t>Naming</a:t>
            </a:r>
          </a:p>
          <a:p>
            <a:r>
              <a:rPr lang="en-US" dirty="0"/>
              <a:t>Select meaningful names: </a:t>
            </a:r>
            <a:r>
              <a:rPr lang="fi-FI" b="1" baseline="-25000" dirty="0">
                <a:latin typeface="Lucida Sans" panose="020B0602030504020204" pitchFamily="34" charset="0"/>
                <a:ea typeface="Cambria Math" panose="02040503050406030204" pitchFamily="18" charset="0"/>
                <a:cs typeface="Aldhabi" panose="01000000000000000000" pitchFamily="2" charset="-78"/>
              </a:rPr>
              <a:t>first_name </a:t>
            </a:r>
            <a:r>
              <a:rPr lang="fi-FI" dirty="0"/>
              <a:t>, is better than </a:t>
            </a:r>
            <a:r>
              <a:rPr lang="fi-FI" dirty="0">
                <a:solidFill>
                  <a:srgbClr val="FF0000"/>
                </a:solidFill>
              </a:rPr>
              <a:t>x</a:t>
            </a:r>
            <a:r>
              <a:rPr lang="fi-FI" dirty="0"/>
              <a:t>.</a:t>
            </a:r>
          </a:p>
          <a:p>
            <a:r>
              <a:rPr lang="en-US" dirty="0"/>
              <a:t>Follow naming rules:</a:t>
            </a:r>
          </a:p>
          <a:p>
            <a:pPr lvl="1"/>
            <a:r>
              <a:rPr lang="en-US" dirty="0"/>
              <a:t>Case-sensitive :</a:t>
            </a:r>
          </a:p>
          <a:p>
            <a:pPr lvl="2"/>
            <a:r>
              <a:rPr lang="fi-FI" dirty="0">
                <a:solidFill>
                  <a:srgbClr val="7030A0"/>
                </a:solidFill>
                <a:latin typeface="Lucida Sans" panose="020B0602030504020204" pitchFamily="34" charset="0"/>
              </a:rPr>
              <a:t>one = 1</a:t>
            </a:r>
          </a:p>
          <a:p>
            <a:pPr lvl="2"/>
            <a:r>
              <a:rPr lang="fi-FI" dirty="0">
                <a:solidFill>
                  <a:srgbClr val="7030A0"/>
                </a:solidFill>
                <a:latin typeface="Lucida Sans" panose="020B0602030504020204" pitchFamily="34" charset="0"/>
              </a:rPr>
              <a:t>oNe  = 1</a:t>
            </a:r>
          </a:p>
          <a:p>
            <a:pPr lvl="2"/>
            <a:r>
              <a:rPr lang="fi-FI" dirty="0">
                <a:solidFill>
                  <a:srgbClr val="7030A0"/>
                </a:solidFill>
                <a:latin typeface="Lucida Sans" panose="020B0602030504020204" pitchFamily="34" charset="0"/>
              </a:rPr>
              <a:t>One= 1</a:t>
            </a:r>
            <a:endParaRPr lang="en-US" dirty="0">
              <a:solidFill>
                <a:srgbClr val="7030A0"/>
              </a:solidFill>
              <a:latin typeface="Lucida Sans" panose="020B0602030504020204" pitchFamily="34" charset="0"/>
            </a:endParaRPr>
          </a:p>
          <a:p>
            <a:pPr lvl="1"/>
            <a:r>
              <a:rPr lang="en-US" sz="2800" dirty="0"/>
              <a:t>Consists of letters and numbers combinations, and underscore.</a:t>
            </a:r>
          </a:p>
          <a:p>
            <a:pPr lvl="2"/>
            <a:r>
              <a:rPr lang="en-US" dirty="0">
                <a:solidFill>
                  <a:srgbClr val="0070C0"/>
                </a:solidFill>
                <a:latin typeface="Lucida Sans" panose="020B0602030504020204" pitchFamily="34" charset="0"/>
              </a:rPr>
              <a:t>One1, one_1, one.</a:t>
            </a:r>
          </a:p>
          <a:p>
            <a:pPr lvl="1"/>
            <a:r>
              <a:rPr lang="en-US" sz="2800" dirty="0"/>
              <a:t>Numbers should not be the first letter.</a:t>
            </a:r>
          </a:p>
          <a:p>
            <a:pPr lvl="2"/>
            <a:r>
              <a:rPr lang="en-US" sz="2400" dirty="0">
                <a:solidFill>
                  <a:srgbClr val="FF0000"/>
                </a:solidFill>
              </a:rPr>
              <a:t>Invalid: 1one</a:t>
            </a:r>
          </a:p>
          <a:p>
            <a:pPr lvl="1"/>
            <a:r>
              <a:rPr lang="en-US" sz="2800" dirty="0"/>
              <a:t>No special characters.</a:t>
            </a:r>
          </a:p>
          <a:p>
            <a:pPr lvl="2"/>
            <a:r>
              <a:rPr lang="en-US" sz="2400" dirty="0">
                <a:solidFill>
                  <a:srgbClr val="FF0000"/>
                </a:solidFill>
              </a:rPr>
              <a:t>one#, one@1</a:t>
            </a:r>
          </a:p>
          <a:p>
            <a:pPr lvl="1"/>
            <a:endParaRPr lang="fi-FI" sz="2800" dirty="0"/>
          </a:p>
          <a:p>
            <a:pPr marL="0" indent="0">
              <a:buNone/>
            </a:pPr>
            <a:endParaRPr lang="en-US" b="1" dirty="0"/>
          </a:p>
        </p:txBody>
      </p:sp>
    </p:spTree>
    <p:extLst>
      <p:ext uri="{BB962C8B-B14F-4D97-AF65-F5344CB8AC3E}">
        <p14:creationId xmlns:p14="http://schemas.microsoft.com/office/powerpoint/2010/main" val="159802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9" end="9"/>
                                            </p:txEl>
                                          </p:spTgt>
                                        </p:tgtEl>
                                        <p:attrNameLst>
                                          <p:attrName>style.visibility</p:attrName>
                                        </p:attrNameLst>
                                      </p:cBhvr>
                                      <p:to>
                                        <p:strVal val="visible"/>
                                      </p:to>
                                    </p:set>
                                    <p:animEffect transition="in" filter="fade">
                                      <p:cBhvr>
                                        <p:cTn id="38" dur="500"/>
                                        <p:tgtEl>
                                          <p:spTgt spid="3">
                                            <p:txEl>
                                              <p:pRg st="9" end="9"/>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animEffect transition="in" filter="fade">
                                      <p:cBhvr>
                                        <p:cTn id="41" dur="500"/>
                                        <p:tgtEl>
                                          <p:spTgt spid="3">
                                            <p:txEl>
                                              <p:pRg st="10" end="1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82245"/>
            <a:ext cx="10515600" cy="854075"/>
          </a:xfrm>
        </p:spPr>
        <p:txBody>
          <a:bodyPr>
            <a:normAutofit/>
          </a:bodyPr>
          <a:lstStyle/>
          <a:p>
            <a:r>
              <a:rPr lang="fi-FI" b="1" dirty="0">
                <a:solidFill>
                  <a:srgbClr val="002060"/>
                </a:solidFill>
                <a:latin typeface="Arial Black" panose="020B0A04020102020204" pitchFamily="34" charset="0"/>
              </a:rPr>
              <a:t>Variables</a:t>
            </a:r>
          </a:p>
        </p:txBody>
      </p:sp>
      <p:sp>
        <p:nvSpPr>
          <p:cNvPr id="3" name="Content Placeholder 2"/>
          <p:cNvSpPr>
            <a:spLocks noGrp="1"/>
          </p:cNvSpPr>
          <p:nvPr>
            <p:ph idx="1"/>
          </p:nvPr>
        </p:nvSpPr>
        <p:spPr>
          <a:xfrm>
            <a:off x="736600" y="1188720"/>
            <a:ext cx="5643880" cy="5496560"/>
          </a:xfrm>
        </p:spPr>
        <p:txBody>
          <a:bodyPr>
            <a:noAutofit/>
          </a:bodyPr>
          <a:lstStyle/>
          <a:p>
            <a:r>
              <a:rPr lang="en-US" sz="2400" b="1" dirty="0"/>
              <a:t>Assigning values to variables</a:t>
            </a:r>
            <a:endParaRPr lang="en-US" sz="2400" b="1" baseline="-25000" dirty="0">
              <a:latin typeface="Lucida Sans" panose="020B0602030504020204" pitchFamily="34" charset="0"/>
              <a:ea typeface="Cambria Math" panose="02040503050406030204" pitchFamily="18" charset="0"/>
              <a:cs typeface="Aldhabi" panose="01000000000000000000" pitchFamily="2" charset="-78"/>
            </a:endParaRP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a=3</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a</a:t>
            </a:r>
          </a:p>
          <a:p>
            <a:pPr marL="0" indent="0">
              <a:buNone/>
            </a:pPr>
            <a:r>
              <a:rPr lang="en-US" sz="32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b=a</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b</a:t>
            </a:r>
          </a:p>
          <a:p>
            <a:pPr marL="0" indent="0">
              <a:buNone/>
            </a:pPr>
            <a:r>
              <a:rPr lang="en-US" sz="32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b=b+3 </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b</a:t>
            </a:r>
          </a:p>
          <a:p>
            <a:pPr marL="0" indent="0">
              <a:buNone/>
            </a:pPr>
            <a:r>
              <a:rPr lang="en-US" sz="32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6</a:t>
            </a:r>
          </a:p>
          <a:p>
            <a:pPr marL="0" indent="0">
              <a:buNone/>
            </a:pPr>
            <a:r>
              <a:rPr lang="en-US" sz="3200" baseline="-25000" dirty="0">
                <a:latin typeface="Lucida Sans" panose="020B0602030504020204" pitchFamily="34" charset="0"/>
                <a:ea typeface="Cambria Math" panose="02040503050406030204" pitchFamily="18" charset="0"/>
                <a:cs typeface="Aldhabi" panose="01000000000000000000" pitchFamily="2" charset="-78"/>
              </a:rPr>
              <a:t>&gt;&gt;&gt; a</a:t>
            </a:r>
          </a:p>
          <a:p>
            <a:pPr marL="0" indent="0">
              <a:buNone/>
            </a:pPr>
            <a:r>
              <a:rPr lang="en-US" sz="32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a:t>
            </a:r>
            <a:endParaRPr lang="fi-FI" sz="3200"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endParaRPr>
          </a:p>
        </p:txBody>
      </p:sp>
    </p:spTree>
    <p:extLst>
      <p:ext uri="{BB962C8B-B14F-4D97-AF65-F5344CB8AC3E}">
        <p14:creationId xmlns:p14="http://schemas.microsoft.com/office/powerpoint/2010/main" val="818767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607" y="221729"/>
            <a:ext cx="10515600" cy="986155"/>
          </a:xfrm>
        </p:spPr>
        <p:txBody>
          <a:bodyPr>
            <a:normAutofit/>
          </a:bodyPr>
          <a:lstStyle/>
          <a:p>
            <a:r>
              <a:rPr lang="en-US" b="1" dirty="0">
                <a:solidFill>
                  <a:srgbClr val="002060"/>
                </a:solidFill>
                <a:latin typeface="Arial Black" panose="020B0A04020102020204" pitchFamily="34" charset="0"/>
              </a:rPr>
              <a:t>Data Types: </a:t>
            </a:r>
            <a:r>
              <a:rPr lang="fi-FI" sz="2800" b="1" dirty="0">
                <a:solidFill>
                  <a:srgbClr val="002060"/>
                </a:solidFill>
                <a:latin typeface="Arial" panose="020B0604020202020204" pitchFamily="34" charset="0"/>
                <a:cs typeface="Arial" panose="020B0604020202020204" pitchFamily="34" charset="0"/>
              </a:rPr>
              <a:t>Number Types</a:t>
            </a:r>
            <a:endParaRPr lang="fi-FI" b="1" dirty="0"/>
          </a:p>
        </p:txBody>
      </p:sp>
      <p:sp>
        <p:nvSpPr>
          <p:cNvPr id="3" name="Content Placeholder 2"/>
          <p:cNvSpPr>
            <a:spLocks noGrp="1"/>
          </p:cNvSpPr>
          <p:nvPr>
            <p:ph idx="1"/>
          </p:nvPr>
        </p:nvSpPr>
        <p:spPr>
          <a:xfrm>
            <a:off x="531510" y="2017298"/>
            <a:ext cx="3083560" cy="3976023"/>
          </a:xfrm>
        </p:spPr>
        <p:txBody>
          <a:bodyPr>
            <a:noAutofit/>
          </a:bodyPr>
          <a:lstStyle/>
          <a:p>
            <a:pPr marL="0" indent="0">
              <a:lnSpc>
                <a:spcPct val="170000"/>
              </a:lnSpc>
              <a:spcBef>
                <a:spcPts val="0"/>
              </a:spcBef>
              <a:buNone/>
            </a:pPr>
            <a:r>
              <a:rPr lang="fi-FI" b="1" dirty="0"/>
              <a:t>1. Integer numbers:</a:t>
            </a:r>
            <a:endParaRPr lang="fi-FI" b="1" baseline="-25000" dirty="0">
              <a:solidFill>
                <a:srgbClr val="002060"/>
              </a:solidFill>
              <a:latin typeface="Arial" panose="020B0604020202020204" pitchFamily="34" charset="0"/>
              <a:ea typeface="Cambria Math" panose="02040503050406030204" pitchFamily="18" charset="0"/>
              <a:cs typeface="Arial" panose="020B0604020202020204" pitchFamily="34" charset="0"/>
            </a:endParaRPr>
          </a:p>
          <a:p>
            <a:pPr marL="0" indent="0">
              <a:lnSpc>
                <a:spcPct val="170000"/>
              </a:lnSpc>
              <a:spcBef>
                <a:spcPts val="0"/>
              </a:spcBef>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type(4)		</a:t>
            </a:r>
          </a:p>
          <a:p>
            <a:pPr marL="0" indent="0">
              <a:lnSpc>
                <a:spcPct val="170000"/>
              </a:lnSpc>
              <a:spcBef>
                <a:spcPts val="0"/>
              </a:spcBef>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&lt;type 'int’&gt;</a:t>
            </a:r>
            <a:r>
              <a:rPr lang="fi-FI" baseline="-25000" dirty="0">
                <a:latin typeface="Lucida Sans" panose="020B0602030504020204" pitchFamily="34" charset="0"/>
                <a:ea typeface="Cambria Math" panose="02040503050406030204" pitchFamily="18" charset="0"/>
                <a:cs typeface="Aldhabi" panose="01000000000000000000" pitchFamily="2" charset="-78"/>
              </a:rPr>
              <a:t>		</a:t>
            </a:r>
          </a:p>
        </p:txBody>
      </p:sp>
      <p:sp>
        <p:nvSpPr>
          <p:cNvPr id="4" name="Content Placeholder 2"/>
          <p:cNvSpPr txBox="1">
            <a:spLocks/>
          </p:cNvSpPr>
          <p:nvPr/>
        </p:nvSpPr>
        <p:spPr>
          <a:xfrm>
            <a:off x="8006494" y="1976768"/>
            <a:ext cx="3911186" cy="344838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spcBef>
                <a:spcPts val="0"/>
              </a:spcBef>
              <a:buFont typeface="Arial" panose="020B0604020202020204" pitchFamily="34" charset="0"/>
              <a:buNone/>
            </a:pPr>
            <a:r>
              <a:rPr lang="fi-FI" b="1" dirty="0"/>
              <a:t>3. Complex numbers:</a:t>
            </a:r>
            <a:endParaRPr lang="fi-FI" b="1" baseline="-25000" dirty="0">
              <a:solidFill>
                <a:srgbClr val="002060"/>
              </a:solidFill>
              <a:latin typeface="Arial" panose="020B0604020202020204" pitchFamily="34" charset="0"/>
              <a:ea typeface="Cambria Math" panose="02040503050406030204" pitchFamily="18" charset="0"/>
              <a:cs typeface="Arial" panose="020B0604020202020204" pitchFamily="34" charset="0"/>
            </a:endParaRP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type(3+2j)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&lt;type ’complex'&gt;</a:t>
            </a:r>
            <a:r>
              <a:rPr lang="fi-FI" sz="3600" baseline="-25000" dirty="0"/>
              <a:t> </a:t>
            </a: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(2+1j)**2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(3+4j)</a:t>
            </a:r>
            <a:r>
              <a:rPr lang="fi-FI" sz="3600" baseline="-25000" dirty="0"/>
              <a:t>			</a:t>
            </a:r>
            <a:endParaRPr lang="fi-FI" baseline="-25000" dirty="0">
              <a:solidFill>
                <a:srgbClr val="00B050"/>
              </a:solidFill>
            </a:endParaRPr>
          </a:p>
        </p:txBody>
      </p:sp>
      <p:sp>
        <p:nvSpPr>
          <p:cNvPr id="5" name="Rectangle 4"/>
          <p:cNvSpPr/>
          <p:nvPr/>
        </p:nvSpPr>
        <p:spPr>
          <a:xfrm>
            <a:off x="531510" y="1384624"/>
            <a:ext cx="5808330" cy="632674"/>
          </a:xfrm>
          <a:prstGeom prst="rect">
            <a:avLst/>
          </a:prstGeom>
        </p:spPr>
        <p:txBody>
          <a:bodyPr wrap="square">
            <a:spAutoFit/>
          </a:bodyPr>
          <a:lstStyle/>
          <a:p>
            <a:pPr>
              <a:lnSpc>
                <a:spcPct val="170000"/>
              </a:lnSpc>
            </a:pPr>
            <a:r>
              <a:rPr lang="fi-FI" sz="2400" b="1" dirty="0">
                <a:solidFill>
                  <a:srgbClr val="0070C0"/>
                </a:solidFill>
                <a:latin typeface="Lucida Sans" panose="020B0602030504020204" pitchFamily="34" charset="0"/>
                <a:cs typeface="Arial" panose="020B0604020202020204" pitchFamily="34" charset="0"/>
              </a:rPr>
              <a:t>int, float,  complex</a:t>
            </a:r>
          </a:p>
        </p:txBody>
      </p:sp>
      <p:sp>
        <p:nvSpPr>
          <p:cNvPr id="6" name="Content Placeholder 2"/>
          <p:cNvSpPr txBox="1">
            <a:spLocks/>
          </p:cNvSpPr>
          <p:nvPr/>
        </p:nvSpPr>
        <p:spPr>
          <a:xfrm>
            <a:off x="4342012" y="1933264"/>
            <a:ext cx="3083560" cy="480281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spcBef>
                <a:spcPts val="0"/>
              </a:spcBef>
              <a:buFont typeface="Arial" panose="020B0604020202020204" pitchFamily="34" charset="0"/>
              <a:buNone/>
            </a:pPr>
            <a:r>
              <a:rPr lang="fi-FI" b="1" dirty="0"/>
              <a:t>2. Real numbers:</a:t>
            </a:r>
            <a:endParaRPr lang="fi-FI" baseline="-25000" dirty="0">
              <a:latin typeface="Lucida Sans" panose="020B0602030504020204" pitchFamily="34" charset="0"/>
              <a:ea typeface="Cambria Math" panose="02040503050406030204" pitchFamily="18" charset="0"/>
              <a:cs typeface="Aldhabi" panose="01000000000000000000" pitchFamily="2" charset="-78"/>
            </a:endParaRP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type(4.5)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&lt;type ’float’&gt;</a:t>
            </a:r>
            <a:r>
              <a:rPr lang="fi-FI" baseline="-25000" dirty="0">
                <a:latin typeface="Lucida Sans" panose="020B0602030504020204" pitchFamily="34" charset="0"/>
                <a:ea typeface="Cambria Math" panose="02040503050406030204" pitchFamily="18" charset="0"/>
                <a:cs typeface="Aldhabi" panose="01000000000000000000" pitchFamily="2" charset="-78"/>
              </a:rPr>
              <a:t>		</a:t>
            </a: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17/5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a:t>
            </a: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float(17)/5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3.4</a:t>
            </a:r>
            <a:r>
              <a:rPr lang="fi-FI" baseline="-25000" dirty="0">
                <a:latin typeface="Lucida Sans" panose="020B0602030504020204" pitchFamily="34" charset="0"/>
                <a:ea typeface="Cambria Math" panose="02040503050406030204" pitchFamily="18" charset="0"/>
                <a:cs typeface="Aldhabi" panose="01000000000000000000" pitchFamily="2" charset="-78"/>
              </a:rPr>
              <a:t>	</a:t>
            </a:r>
          </a:p>
          <a:p>
            <a:pPr marL="0" indent="0">
              <a:lnSpc>
                <a:spcPct val="170000"/>
              </a:lnSpc>
              <a:spcBef>
                <a:spcPts val="0"/>
              </a:spcBef>
              <a:buFont typeface="Arial" panose="020B0604020202020204" pitchFamily="34" charset="0"/>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17.0/5 		</a:t>
            </a:r>
          </a:p>
          <a:p>
            <a:pPr marL="0" indent="0">
              <a:lnSpc>
                <a:spcPct val="170000"/>
              </a:lnSpc>
              <a:spcBef>
                <a:spcPts val="0"/>
              </a:spcBef>
              <a:buFont typeface="Arial" panose="020B0604020202020204" pitchFamily="34" charset="0"/>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3.4 </a:t>
            </a:r>
            <a:r>
              <a:rPr lang="fi-FI" sz="3600" baseline="-25000" dirty="0"/>
              <a:t>	</a:t>
            </a:r>
            <a:endParaRPr lang="fi-FI" baseline="-25000" dirty="0">
              <a:solidFill>
                <a:srgbClr val="00B050"/>
              </a:solidFill>
            </a:endParaRPr>
          </a:p>
        </p:txBody>
      </p:sp>
    </p:spTree>
    <p:extLst>
      <p:ext uri="{BB962C8B-B14F-4D97-AF65-F5344CB8AC3E}">
        <p14:creationId xmlns:p14="http://schemas.microsoft.com/office/powerpoint/2010/main" val="3262683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fade">
                                      <p:cBhvr>
                                        <p:cTn id="27" dur="500"/>
                                        <p:tgtEl>
                                          <p:spTgt spid="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1" end="1"/>
                                            </p:txEl>
                                          </p:spTgt>
                                        </p:tgtEl>
                                        <p:attrNameLst>
                                          <p:attrName>style.visibility</p:attrName>
                                        </p:attrNameLst>
                                      </p:cBhvr>
                                      <p:to>
                                        <p:strVal val="visible"/>
                                      </p:to>
                                    </p:set>
                                    <p:animEffect transition="in" filter="fade">
                                      <p:cBhvr>
                                        <p:cTn id="32" dur="500"/>
                                        <p:tgtEl>
                                          <p:spTgt spid="6">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Effect transition="in" filter="fade">
                                      <p:cBhvr>
                                        <p:cTn id="37" dur="500"/>
                                        <p:tgtEl>
                                          <p:spTgt spid="6">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3" end="3"/>
                                            </p:txEl>
                                          </p:spTgt>
                                        </p:tgtEl>
                                        <p:attrNameLst>
                                          <p:attrName>style.visibility</p:attrName>
                                        </p:attrNameLst>
                                      </p:cBhvr>
                                      <p:to>
                                        <p:strVal val="visible"/>
                                      </p:to>
                                    </p:set>
                                    <p:animEffect transition="in" filter="fade">
                                      <p:cBhvr>
                                        <p:cTn id="42" dur="500"/>
                                        <p:tgtEl>
                                          <p:spTgt spid="6">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4" end="4"/>
                                            </p:txEl>
                                          </p:spTgt>
                                        </p:tgtEl>
                                        <p:attrNameLst>
                                          <p:attrName>style.visibility</p:attrName>
                                        </p:attrNameLst>
                                      </p:cBhvr>
                                      <p:to>
                                        <p:strVal val="visible"/>
                                      </p:to>
                                    </p:set>
                                    <p:animEffect transition="in" filter="fade">
                                      <p:cBhvr>
                                        <p:cTn id="47" dur="500"/>
                                        <p:tgtEl>
                                          <p:spTgt spid="6">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5" end="5"/>
                                            </p:txEl>
                                          </p:spTgt>
                                        </p:tgtEl>
                                        <p:attrNameLst>
                                          <p:attrName>style.visibility</p:attrName>
                                        </p:attrNameLst>
                                      </p:cBhvr>
                                      <p:to>
                                        <p:strVal val="visible"/>
                                      </p:to>
                                    </p:set>
                                    <p:animEffect transition="in" filter="fade">
                                      <p:cBhvr>
                                        <p:cTn id="52" dur="500"/>
                                        <p:tgtEl>
                                          <p:spTgt spid="6">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6">
                                            <p:txEl>
                                              <p:pRg st="6" end="6"/>
                                            </p:txEl>
                                          </p:spTgt>
                                        </p:tgtEl>
                                        <p:attrNameLst>
                                          <p:attrName>style.visibility</p:attrName>
                                        </p:attrNameLst>
                                      </p:cBhvr>
                                      <p:to>
                                        <p:strVal val="visible"/>
                                      </p:to>
                                    </p:set>
                                    <p:animEffect transition="in" filter="fade">
                                      <p:cBhvr>
                                        <p:cTn id="57" dur="500"/>
                                        <p:tgtEl>
                                          <p:spTgt spid="6">
                                            <p:txEl>
                                              <p:pRg st="6" end="6"/>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xEl>
                                              <p:pRg st="7" end="7"/>
                                            </p:txEl>
                                          </p:spTgt>
                                        </p:tgtEl>
                                        <p:attrNameLst>
                                          <p:attrName>style.visibility</p:attrName>
                                        </p:attrNameLst>
                                      </p:cBhvr>
                                      <p:to>
                                        <p:strVal val="visible"/>
                                      </p:to>
                                    </p:set>
                                    <p:animEffect transition="in" filter="fade">
                                      <p:cBhvr>
                                        <p:cTn id="62" dur="500"/>
                                        <p:tgtEl>
                                          <p:spTgt spid="6">
                                            <p:txEl>
                                              <p:pRg st="7" end="7"/>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6">
                                            <p:txEl>
                                              <p:pRg st="8" end="8"/>
                                            </p:txEl>
                                          </p:spTgt>
                                        </p:tgtEl>
                                        <p:attrNameLst>
                                          <p:attrName>style.visibility</p:attrName>
                                        </p:attrNameLst>
                                      </p:cBhvr>
                                      <p:to>
                                        <p:strVal val="visible"/>
                                      </p:to>
                                    </p:set>
                                    <p:animEffect transition="in" filter="fade">
                                      <p:cBhvr>
                                        <p:cTn id="67" dur="500"/>
                                        <p:tgtEl>
                                          <p:spTgt spid="6">
                                            <p:txEl>
                                              <p:pRg st="8" end="8"/>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0" end="0"/>
                                            </p:txEl>
                                          </p:spTgt>
                                        </p:tgtEl>
                                        <p:attrNameLst>
                                          <p:attrName>style.visibility</p:attrName>
                                        </p:attrNameLst>
                                      </p:cBhvr>
                                      <p:to>
                                        <p:strVal val="visible"/>
                                      </p:to>
                                    </p:set>
                                    <p:animEffect transition="in" filter="fade">
                                      <p:cBhvr>
                                        <p:cTn id="72" dur="500"/>
                                        <p:tgtEl>
                                          <p:spTgt spid="4">
                                            <p:txEl>
                                              <p:pRg st="0" end="0"/>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 end="1"/>
                                            </p:txEl>
                                          </p:spTgt>
                                        </p:tgtEl>
                                        <p:attrNameLst>
                                          <p:attrName>style.visibility</p:attrName>
                                        </p:attrNameLst>
                                      </p:cBhvr>
                                      <p:to>
                                        <p:strVal val="visible"/>
                                      </p:to>
                                    </p:set>
                                    <p:animEffect transition="in" filter="fade">
                                      <p:cBhvr>
                                        <p:cTn id="77" dur="500"/>
                                        <p:tgtEl>
                                          <p:spTgt spid="4">
                                            <p:txEl>
                                              <p:pRg st="1" end="1"/>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2" end="2"/>
                                            </p:txEl>
                                          </p:spTgt>
                                        </p:tgtEl>
                                        <p:attrNameLst>
                                          <p:attrName>style.visibility</p:attrName>
                                        </p:attrNameLst>
                                      </p:cBhvr>
                                      <p:to>
                                        <p:strVal val="visible"/>
                                      </p:to>
                                    </p:set>
                                    <p:animEffect transition="in" filter="fade">
                                      <p:cBhvr>
                                        <p:cTn id="82" dur="500"/>
                                        <p:tgtEl>
                                          <p:spTgt spid="4">
                                            <p:txEl>
                                              <p:pRg st="2" end="2"/>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3" end="3"/>
                                            </p:txEl>
                                          </p:spTgt>
                                        </p:tgtEl>
                                        <p:attrNameLst>
                                          <p:attrName>style.visibility</p:attrName>
                                        </p:attrNameLst>
                                      </p:cBhvr>
                                      <p:to>
                                        <p:strVal val="visible"/>
                                      </p:to>
                                    </p:set>
                                    <p:animEffect transition="in" filter="fade">
                                      <p:cBhvr>
                                        <p:cTn id="87" dur="500"/>
                                        <p:tgtEl>
                                          <p:spTgt spid="4">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4" end="4"/>
                                            </p:txEl>
                                          </p:spTgt>
                                        </p:tgtEl>
                                        <p:attrNameLst>
                                          <p:attrName>style.visibility</p:attrName>
                                        </p:attrNameLst>
                                      </p:cBhvr>
                                      <p:to>
                                        <p:strVal val="visible"/>
                                      </p:to>
                                    </p:set>
                                    <p:animEffect transition="in" filter="fade">
                                      <p:cBhvr>
                                        <p:cTn id="9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P spid="5" grpId="0"/>
      <p:bldP spid="6"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6155"/>
          </a:xfrm>
        </p:spPr>
        <p:txBody>
          <a:bodyPr>
            <a:normAutofit/>
          </a:bodyPr>
          <a:lstStyle/>
          <a:p>
            <a:r>
              <a:rPr lang="en-US" b="1" dirty="0">
                <a:solidFill>
                  <a:srgbClr val="002060"/>
                </a:solidFill>
                <a:latin typeface="Arial Black" panose="020B0A04020102020204" pitchFamily="34" charset="0"/>
              </a:rPr>
              <a:t>Data Types: </a:t>
            </a:r>
            <a:r>
              <a:rPr lang="fi-FI" sz="2800" b="1" dirty="0">
                <a:solidFill>
                  <a:srgbClr val="002060"/>
                </a:solidFill>
                <a:latin typeface="Arial" panose="020B0604020202020204" pitchFamily="34" charset="0"/>
                <a:cs typeface="Arial" panose="020B0604020202020204" pitchFamily="34" charset="0"/>
              </a:rPr>
              <a:t>Strings</a:t>
            </a:r>
          </a:p>
        </p:txBody>
      </p:sp>
      <p:sp>
        <p:nvSpPr>
          <p:cNvPr id="7" name="Content Placeholder 6"/>
          <p:cNvSpPr>
            <a:spLocks noGrp="1"/>
          </p:cNvSpPr>
          <p:nvPr>
            <p:ph idx="1"/>
          </p:nvPr>
        </p:nvSpPr>
        <p:spPr>
          <a:xfrm>
            <a:off x="838200" y="1825625"/>
            <a:ext cx="10612272" cy="4351338"/>
          </a:xfrm>
        </p:spPr>
        <p:txBody>
          <a:bodyPr>
            <a:normAutofit fontScale="92500" lnSpcReduction="20000"/>
          </a:bodyPr>
          <a:lstStyle/>
          <a:p>
            <a:r>
              <a:rPr lang="en-US" dirty="0"/>
              <a:t>Single quote:</a:t>
            </a:r>
          </a:p>
          <a:p>
            <a:pPr marL="0" indent="0">
              <a:lnSpc>
                <a:spcPct val="170000"/>
              </a:lnSpc>
              <a:spcBef>
                <a:spcPts val="0"/>
              </a:spcBef>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a:t>
            </a:r>
            <a:r>
              <a:rPr lang="fi-FI"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’atg’</a:t>
            </a:r>
            <a:r>
              <a:rPr lang="fi-FI" baseline="-25000" dirty="0">
                <a:latin typeface="Lucida Sans" panose="020B0602030504020204" pitchFamily="34" charset="0"/>
                <a:ea typeface="Cambria Math" panose="02040503050406030204" pitchFamily="18" charset="0"/>
                <a:cs typeface="Aldhabi" panose="01000000000000000000" pitchFamily="2" charset="-78"/>
              </a:rPr>
              <a:t>		</a:t>
            </a:r>
          </a:p>
          <a:p>
            <a:pPr marL="0" indent="0">
              <a:lnSpc>
                <a:spcPct val="170000"/>
              </a:lnSpc>
              <a:spcBef>
                <a:spcPts val="0"/>
              </a:spcBef>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’atg’</a:t>
            </a:r>
            <a:r>
              <a:rPr lang="fi-FI" baseline="-25000" dirty="0">
                <a:latin typeface="Lucida Sans" panose="020B0602030504020204" pitchFamily="34" charset="0"/>
                <a:ea typeface="Cambria Math" panose="02040503050406030204" pitchFamily="18" charset="0"/>
                <a:cs typeface="Aldhabi" panose="01000000000000000000" pitchFamily="2" charset="-78"/>
              </a:rPr>
              <a:t>	</a:t>
            </a:r>
          </a:p>
          <a:p>
            <a:pPr>
              <a:lnSpc>
                <a:spcPct val="170000"/>
              </a:lnSpc>
              <a:spcBef>
                <a:spcPts val="0"/>
              </a:spcBef>
            </a:pPr>
            <a:r>
              <a:rPr lang="en-US" dirty="0"/>
              <a:t>Double quote:</a:t>
            </a:r>
          </a:p>
          <a:p>
            <a:pPr marL="0" indent="0">
              <a:lnSpc>
                <a:spcPct val="170000"/>
              </a:lnSpc>
              <a:spcBef>
                <a:spcPts val="0"/>
              </a:spcBef>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”atg”	</a:t>
            </a:r>
          </a:p>
          <a:p>
            <a:pPr marL="0" indent="0">
              <a:lnSpc>
                <a:spcPct val="170000"/>
              </a:lnSpc>
              <a:spcBef>
                <a:spcPts val="0"/>
              </a:spcBef>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’atg’</a:t>
            </a:r>
          </a:p>
          <a:p>
            <a:pPr marL="0" indent="0">
              <a:lnSpc>
                <a:spcPct val="170000"/>
              </a:lnSpc>
              <a:spcBef>
                <a:spcPts val="0"/>
              </a:spcBef>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a:t>
            </a:r>
            <a:r>
              <a:rPr lang="fi-FI"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’This is a codon, isn’t it?’</a:t>
            </a:r>
          </a:p>
          <a:p>
            <a:pPr marL="0" indent="0">
              <a:lnSpc>
                <a:spcPct val="170000"/>
              </a:lnSpc>
              <a:spcBef>
                <a:spcPts val="0"/>
              </a:spcBef>
              <a:buNone/>
            </a:pPr>
            <a:r>
              <a:rPr lang="en-US" baseline="-25000" dirty="0">
                <a:solidFill>
                  <a:srgbClr val="FF0000"/>
                </a:solidFill>
                <a:latin typeface="Lucida Sans" panose="020B0602030504020204" pitchFamily="34" charset="0"/>
                <a:ea typeface="Cambria Math" panose="02040503050406030204" pitchFamily="18" charset="0"/>
                <a:cs typeface="Aldhabi" panose="01000000000000000000" pitchFamily="2" charset="-78"/>
              </a:rPr>
              <a:t>Invalid Syntax</a:t>
            </a:r>
            <a:endParaRPr lang="fi-FI" baseline="-25000" dirty="0">
              <a:solidFill>
                <a:srgbClr val="FF0000"/>
              </a:solidFill>
              <a:latin typeface="Lucida Sans" panose="020B0602030504020204" pitchFamily="34" charset="0"/>
              <a:ea typeface="Cambria Math" panose="02040503050406030204" pitchFamily="18" charset="0"/>
              <a:cs typeface="Aldhabi" panose="01000000000000000000" pitchFamily="2" charset="-78"/>
            </a:endParaRPr>
          </a:p>
          <a:p>
            <a:pPr marL="0" indent="0">
              <a:lnSpc>
                <a:spcPct val="170000"/>
              </a:lnSpc>
              <a:spcBef>
                <a:spcPts val="0"/>
              </a:spcBef>
              <a:buNone/>
            </a:pPr>
            <a:r>
              <a:rPr lang="fi-FI" baseline="-25000" dirty="0">
                <a:latin typeface="Lucida Sans" panose="020B0602030504020204" pitchFamily="34" charset="0"/>
                <a:ea typeface="Cambria Math" panose="02040503050406030204" pitchFamily="18" charset="0"/>
                <a:cs typeface="Aldhabi" panose="01000000000000000000" pitchFamily="2" charset="-78"/>
              </a:rPr>
              <a:t>&gt;&gt;&gt;  </a:t>
            </a:r>
            <a:r>
              <a:rPr lang="fi-FI"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 This is a codon, isn’t it?”</a:t>
            </a:r>
            <a:r>
              <a:rPr lang="fi-FI" baseline="-25000" dirty="0">
                <a:latin typeface="Lucida Sans" panose="020B0602030504020204" pitchFamily="34" charset="0"/>
                <a:ea typeface="Cambria Math" panose="02040503050406030204" pitchFamily="18" charset="0"/>
                <a:cs typeface="Aldhabi" panose="01000000000000000000" pitchFamily="2" charset="-78"/>
              </a:rPr>
              <a:t>     # Or  &gt;&gt;&gt;</a:t>
            </a:r>
            <a:r>
              <a:rPr lang="fi-FI" dirty="0">
                <a:latin typeface="Lucida Sans" panose="020B0602030504020204" pitchFamily="34" charset="0"/>
                <a:ea typeface="Cambria Math" panose="02040503050406030204" pitchFamily="18" charset="0"/>
                <a:cs typeface="Aldhabi" panose="01000000000000000000" pitchFamily="2" charset="-78"/>
              </a:rPr>
              <a:t> </a:t>
            </a:r>
            <a:r>
              <a:rPr lang="fi-FI" baseline="-25000" dirty="0">
                <a:solidFill>
                  <a:srgbClr val="00B050"/>
                </a:solidFill>
                <a:latin typeface="Lucida Sans" panose="020B0602030504020204" pitchFamily="34" charset="0"/>
                <a:ea typeface="Cambria Math" panose="02040503050406030204" pitchFamily="18" charset="0"/>
                <a:cs typeface="Aldhabi" panose="01000000000000000000" pitchFamily="2" charset="-78"/>
              </a:rPr>
              <a:t>’This is a codon, isn\’t it?’ </a:t>
            </a:r>
          </a:p>
          <a:p>
            <a:pPr marL="0" indent="0">
              <a:lnSpc>
                <a:spcPct val="170000"/>
              </a:lnSpc>
              <a:spcBef>
                <a:spcPts val="0"/>
              </a:spcBef>
              <a:buNone/>
            </a:pPr>
            <a:r>
              <a:rPr lang="fi-FI" baseline="-25000" dirty="0">
                <a:solidFill>
                  <a:srgbClr val="0070C0"/>
                </a:solidFill>
                <a:latin typeface="Lucida Sans" panose="020B0602030504020204" pitchFamily="34" charset="0"/>
                <a:ea typeface="Cambria Math" panose="02040503050406030204" pitchFamily="18" charset="0"/>
                <a:cs typeface="Aldhabi" panose="01000000000000000000" pitchFamily="2" charset="-78"/>
              </a:rPr>
              <a:t>This is a codon, isn’t it?</a:t>
            </a:r>
          </a:p>
        </p:txBody>
      </p:sp>
    </p:spTree>
    <p:extLst>
      <p:ext uri="{BB962C8B-B14F-4D97-AF65-F5344CB8AC3E}">
        <p14:creationId xmlns:p14="http://schemas.microsoft.com/office/powerpoint/2010/main" val="424320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8A504-9825-7AA9-0C13-F7685E484578}"/>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D5FD6658-9BA1-E547-C290-7D11B2CB1982}"/>
              </a:ext>
            </a:extLst>
          </p:cNvPr>
          <p:cNvPicPr>
            <a:picLocks noGrp="1" noChangeAspect="1"/>
          </p:cNvPicPr>
          <p:nvPr>
            <p:ph idx="1"/>
          </p:nvPr>
        </p:nvPicPr>
        <p:blipFill>
          <a:blip r:embed="rId2"/>
          <a:stretch>
            <a:fillRect/>
          </a:stretch>
        </p:blipFill>
        <p:spPr>
          <a:xfrm>
            <a:off x="417442" y="212036"/>
            <a:ext cx="10936357" cy="5870472"/>
          </a:xfrm>
        </p:spPr>
      </p:pic>
    </p:spTree>
    <p:extLst>
      <p:ext uri="{BB962C8B-B14F-4D97-AF65-F5344CB8AC3E}">
        <p14:creationId xmlns:p14="http://schemas.microsoft.com/office/powerpoint/2010/main" val="1626979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220D6-A329-DE06-DB5D-39F293362A5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6585C8A-6D05-A317-6C94-690E065D4A7A}"/>
              </a:ext>
            </a:extLst>
          </p:cNvPr>
          <p:cNvPicPr>
            <a:picLocks noGrp="1" noChangeAspect="1"/>
          </p:cNvPicPr>
          <p:nvPr>
            <p:ph idx="1"/>
          </p:nvPr>
        </p:nvPicPr>
        <p:blipFill>
          <a:blip r:embed="rId2"/>
          <a:stretch>
            <a:fillRect/>
          </a:stretch>
        </p:blipFill>
        <p:spPr>
          <a:xfrm>
            <a:off x="611041" y="365125"/>
            <a:ext cx="10515600" cy="5842155"/>
          </a:xfrm>
        </p:spPr>
      </p:pic>
    </p:spTree>
    <p:extLst>
      <p:ext uri="{BB962C8B-B14F-4D97-AF65-F5344CB8AC3E}">
        <p14:creationId xmlns:p14="http://schemas.microsoft.com/office/powerpoint/2010/main" val="3558871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5D4FC-6630-EF88-1DFB-5E0B4DD0E95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844E505-BDC0-87D8-6799-E30B46B93AD3}"/>
              </a:ext>
            </a:extLst>
          </p:cNvPr>
          <p:cNvPicPr>
            <a:picLocks noGrp="1" noChangeAspect="1"/>
          </p:cNvPicPr>
          <p:nvPr>
            <p:ph idx="1"/>
          </p:nvPr>
        </p:nvPicPr>
        <p:blipFill>
          <a:blip r:embed="rId2"/>
          <a:stretch>
            <a:fillRect/>
          </a:stretch>
        </p:blipFill>
        <p:spPr>
          <a:xfrm>
            <a:off x="545085" y="365125"/>
            <a:ext cx="10715950" cy="5578303"/>
          </a:xfrm>
        </p:spPr>
      </p:pic>
    </p:spTree>
    <p:extLst>
      <p:ext uri="{BB962C8B-B14F-4D97-AF65-F5344CB8AC3E}">
        <p14:creationId xmlns:p14="http://schemas.microsoft.com/office/powerpoint/2010/main" val="3258733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2C519-E9BC-4923-F924-63BDD5E5DEB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0B619F8-67F4-EB0E-EA03-96572FAF8495}"/>
              </a:ext>
            </a:extLst>
          </p:cNvPr>
          <p:cNvPicPr>
            <a:picLocks noGrp="1" noChangeAspect="1"/>
          </p:cNvPicPr>
          <p:nvPr>
            <p:ph idx="1"/>
          </p:nvPr>
        </p:nvPicPr>
        <p:blipFill>
          <a:blip r:embed="rId2"/>
          <a:stretch>
            <a:fillRect/>
          </a:stretch>
        </p:blipFill>
        <p:spPr>
          <a:xfrm>
            <a:off x="609601" y="365125"/>
            <a:ext cx="10919790" cy="5807869"/>
          </a:xfrm>
        </p:spPr>
      </p:pic>
    </p:spTree>
    <p:extLst>
      <p:ext uri="{BB962C8B-B14F-4D97-AF65-F5344CB8AC3E}">
        <p14:creationId xmlns:p14="http://schemas.microsoft.com/office/powerpoint/2010/main" val="2203139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BA9B-F80B-9C82-7888-DBA6B8A6F87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2708423-7743-DAE2-179A-FB8FB32491E4}"/>
              </a:ext>
            </a:extLst>
          </p:cNvPr>
          <p:cNvPicPr>
            <a:picLocks noGrp="1" noChangeAspect="1"/>
          </p:cNvPicPr>
          <p:nvPr>
            <p:ph idx="1"/>
          </p:nvPr>
        </p:nvPicPr>
        <p:blipFill>
          <a:blip r:embed="rId2"/>
          <a:stretch>
            <a:fillRect/>
          </a:stretch>
        </p:blipFill>
        <p:spPr>
          <a:xfrm>
            <a:off x="675861" y="365125"/>
            <a:ext cx="10098156" cy="5688807"/>
          </a:xfrm>
        </p:spPr>
      </p:pic>
    </p:spTree>
    <p:extLst>
      <p:ext uri="{BB962C8B-B14F-4D97-AF65-F5344CB8AC3E}">
        <p14:creationId xmlns:p14="http://schemas.microsoft.com/office/powerpoint/2010/main" val="1834072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6F34-3FF8-139C-A881-759B2BFBA5A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C3118AB-F667-D525-7EF6-65F7D052A8BC}"/>
              </a:ext>
            </a:extLst>
          </p:cNvPr>
          <p:cNvPicPr>
            <a:picLocks noGrp="1" noChangeAspect="1"/>
          </p:cNvPicPr>
          <p:nvPr>
            <p:ph idx="1"/>
          </p:nvPr>
        </p:nvPicPr>
        <p:blipFill>
          <a:blip r:embed="rId2"/>
          <a:stretch>
            <a:fillRect/>
          </a:stretch>
        </p:blipFill>
        <p:spPr>
          <a:xfrm>
            <a:off x="838200" y="212035"/>
            <a:ext cx="10611678" cy="6095999"/>
          </a:xfrm>
        </p:spPr>
      </p:pic>
    </p:spTree>
    <p:extLst>
      <p:ext uri="{BB962C8B-B14F-4D97-AF65-F5344CB8AC3E}">
        <p14:creationId xmlns:p14="http://schemas.microsoft.com/office/powerpoint/2010/main" val="403881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82245"/>
            <a:ext cx="10515600" cy="854075"/>
          </a:xfrm>
        </p:spPr>
        <p:txBody>
          <a:bodyPr>
            <a:normAutofit/>
          </a:bodyPr>
          <a:lstStyle/>
          <a:p>
            <a:r>
              <a:rPr lang="en-US" b="1" dirty="0">
                <a:solidFill>
                  <a:srgbClr val="002060"/>
                </a:solidFill>
                <a:latin typeface="Arial Black" panose="020B0A04020102020204" pitchFamily="34" charset="0"/>
              </a:rPr>
              <a:t>Type Conversions</a:t>
            </a:r>
            <a:endParaRPr lang="fi-FI" b="1" dirty="0">
              <a:solidFill>
                <a:srgbClr val="002060"/>
              </a:solidFill>
              <a:latin typeface="Arial Black" panose="020B0A04020102020204" pitchFamily="34" charset="0"/>
            </a:endParaRPr>
          </a:p>
        </p:txBody>
      </p:sp>
      <p:graphicFrame>
        <p:nvGraphicFramePr>
          <p:cNvPr id="3" name="Table 2"/>
          <p:cNvGraphicFramePr>
            <a:graphicFrameLocks noGrp="1"/>
          </p:cNvGraphicFramePr>
          <p:nvPr/>
        </p:nvGraphicFramePr>
        <p:xfrm>
          <a:off x="1402080" y="2030306"/>
          <a:ext cx="9555480" cy="2531535"/>
        </p:xfrm>
        <a:graphic>
          <a:graphicData uri="http://schemas.openxmlformats.org/drawingml/2006/table">
            <a:tbl>
              <a:tblPr firstRow="1" bandRow="1">
                <a:tableStyleId>{5C22544A-7EE6-4342-B048-85BDC9FD1C3A}</a:tableStyleId>
              </a:tblPr>
              <a:tblGrid>
                <a:gridCol w="4777740">
                  <a:extLst>
                    <a:ext uri="{9D8B030D-6E8A-4147-A177-3AD203B41FA5}">
                      <a16:colId xmlns:a16="http://schemas.microsoft.com/office/drawing/2014/main" val="20000"/>
                    </a:ext>
                  </a:extLst>
                </a:gridCol>
                <a:gridCol w="4777740">
                  <a:extLst>
                    <a:ext uri="{9D8B030D-6E8A-4147-A177-3AD203B41FA5}">
                      <a16:colId xmlns:a16="http://schemas.microsoft.com/office/drawing/2014/main" val="20001"/>
                    </a:ext>
                  </a:extLst>
                </a:gridCol>
              </a:tblGrid>
              <a:tr h="506307">
                <a:tc>
                  <a:txBody>
                    <a:bodyPr/>
                    <a:lstStyle/>
                    <a:p>
                      <a:r>
                        <a:rPr lang="en-US" dirty="0"/>
                        <a:t>Function</a:t>
                      </a:r>
                      <a:endParaRPr lang="fi-FI" dirty="0"/>
                    </a:p>
                  </a:txBody>
                  <a:tcPr/>
                </a:tc>
                <a:tc>
                  <a:txBody>
                    <a:bodyPr/>
                    <a:lstStyle/>
                    <a:p>
                      <a:r>
                        <a:rPr lang="en-US" dirty="0"/>
                        <a:t>Description</a:t>
                      </a:r>
                      <a:endParaRPr lang="fi-FI" dirty="0"/>
                    </a:p>
                  </a:txBody>
                  <a:tcPr/>
                </a:tc>
                <a:extLst>
                  <a:ext uri="{0D108BD9-81ED-4DB2-BD59-A6C34878D82A}">
                    <a16:rowId xmlns:a16="http://schemas.microsoft.com/office/drawing/2014/main" val="10000"/>
                  </a:ext>
                </a:extLst>
              </a:tr>
              <a:tr h="506307">
                <a:tc>
                  <a:txBody>
                    <a:bodyPr/>
                    <a:lstStyle/>
                    <a:p>
                      <a:r>
                        <a:rPr lang="fi-FI" sz="1800" b="0" i="0" u="none" strike="noStrike" kern="1200" baseline="0" dirty="0">
                          <a:solidFill>
                            <a:schemeClr val="dk1"/>
                          </a:solidFill>
                          <a:latin typeface="+mn-lt"/>
                          <a:ea typeface="+mn-ea"/>
                          <a:cs typeface="+mn-cs"/>
                        </a:rPr>
                        <a:t>int(x)</a:t>
                      </a:r>
                      <a:endParaRPr lang="fi-FI" dirty="0"/>
                    </a:p>
                  </a:txBody>
                  <a:tcPr/>
                </a:tc>
                <a:tc>
                  <a:txBody>
                    <a:bodyPr/>
                    <a:lstStyle/>
                    <a:p>
                      <a:r>
                        <a:rPr lang="fi-FI" sz="1800" b="0" i="0" u="none" strike="noStrike" kern="1200" baseline="0" dirty="0">
                          <a:solidFill>
                            <a:schemeClr val="dk1"/>
                          </a:solidFill>
                          <a:latin typeface="+mn-lt"/>
                          <a:ea typeface="+mn-ea"/>
                          <a:cs typeface="+mn-cs"/>
                        </a:rPr>
                        <a:t>Converts x to an integer</a:t>
                      </a:r>
                      <a:endParaRPr lang="fi-FI" dirty="0"/>
                    </a:p>
                  </a:txBody>
                  <a:tcPr/>
                </a:tc>
                <a:extLst>
                  <a:ext uri="{0D108BD9-81ED-4DB2-BD59-A6C34878D82A}">
                    <a16:rowId xmlns:a16="http://schemas.microsoft.com/office/drawing/2014/main" val="10001"/>
                  </a:ext>
                </a:extLst>
              </a:tr>
              <a:tr h="506307">
                <a:tc>
                  <a:txBody>
                    <a:bodyPr/>
                    <a:lstStyle/>
                    <a:p>
                      <a:r>
                        <a:rPr lang="fi-FI" sz="1800" b="0" i="0" u="none" strike="noStrike" kern="1200" baseline="0" dirty="0">
                          <a:solidFill>
                            <a:schemeClr val="dk1"/>
                          </a:solidFill>
                          <a:latin typeface="+mn-lt"/>
                          <a:ea typeface="+mn-ea"/>
                          <a:cs typeface="+mn-cs"/>
                        </a:rPr>
                        <a:t>float(x)</a:t>
                      </a:r>
                      <a:endParaRPr lang="fi-FI" dirty="0"/>
                    </a:p>
                  </a:txBody>
                  <a:tcPr/>
                </a:tc>
                <a:tc>
                  <a:txBody>
                    <a:bodyPr/>
                    <a:lstStyle/>
                    <a:p>
                      <a:r>
                        <a:rPr lang="fi-FI" sz="1800" b="0" i="0" u="none" strike="noStrike" kern="1200" baseline="0" dirty="0">
                          <a:solidFill>
                            <a:schemeClr val="dk1"/>
                          </a:solidFill>
                          <a:latin typeface="+mn-lt"/>
                          <a:ea typeface="+mn-ea"/>
                          <a:cs typeface="+mn-cs"/>
                        </a:rPr>
                        <a:t>Converts x to a floating point number</a:t>
                      </a:r>
                      <a:endParaRPr lang="fi-FI" dirty="0"/>
                    </a:p>
                  </a:txBody>
                  <a:tcPr/>
                </a:tc>
                <a:extLst>
                  <a:ext uri="{0D108BD9-81ED-4DB2-BD59-A6C34878D82A}">
                    <a16:rowId xmlns:a16="http://schemas.microsoft.com/office/drawing/2014/main" val="10002"/>
                  </a:ext>
                </a:extLst>
              </a:tr>
              <a:tr h="506307">
                <a:tc>
                  <a:txBody>
                    <a:bodyPr/>
                    <a:lstStyle/>
                    <a:p>
                      <a:r>
                        <a:rPr lang="fi-FI" sz="1800" b="0" i="0" u="none" strike="noStrike" kern="1200" baseline="0" dirty="0">
                          <a:solidFill>
                            <a:schemeClr val="dk1"/>
                          </a:solidFill>
                          <a:latin typeface="+mn-lt"/>
                          <a:ea typeface="+mn-ea"/>
                          <a:cs typeface="+mn-cs"/>
                        </a:rPr>
                        <a:t>str(x)</a:t>
                      </a:r>
                      <a:endParaRPr lang="fi-FI" dirty="0"/>
                    </a:p>
                  </a:txBody>
                  <a:tcPr/>
                </a:tc>
                <a:tc>
                  <a:txBody>
                    <a:bodyPr/>
                    <a:lstStyle/>
                    <a:p>
                      <a:r>
                        <a:rPr lang="fi-FI" sz="1800" b="0" i="0" u="none" strike="noStrike" kern="1200" baseline="0" dirty="0">
                          <a:solidFill>
                            <a:schemeClr val="dk1"/>
                          </a:solidFill>
                          <a:latin typeface="+mn-lt"/>
                          <a:ea typeface="+mn-ea"/>
                          <a:cs typeface="+mn-cs"/>
                        </a:rPr>
                        <a:t>Converts x to a string</a:t>
                      </a:r>
                      <a:endParaRPr lang="fi-FI" dirty="0"/>
                    </a:p>
                  </a:txBody>
                  <a:tcPr/>
                </a:tc>
                <a:extLst>
                  <a:ext uri="{0D108BD9-81ED-4DB2-BD59-A6C34878D82A}">
                    <a16:rowId xmlns:a16="http://schemas.microsoft.com/office/drawing/2014/main" val="10003"/>
                  </a:ext>
                </a:extLst>
              </a:tr>
              <a:tr h="506307">
                <a:tc>
                  <a:txBody>
                    <a:bodyPr/>
                    <a:lstStyle/>
                    <a:p>
                      <a:r>
                        <a:rPr lang="fi-FI" sz="1800" b="0" i="0" u="none" strike="noStrike" kern="1200" baseline="0" dirty="0">
                          <a:solidFill>
                            <a:schemeClr val="dk1"/>
                          </a:solidFill>
                          <a:latin typeface="+mn-lt"/>
                          <a:ea typeface="+mn-ea"/>
                          <a:cs typeface="+mn-cs"/>
                        </a:rPr>
                        <a:t>chr(x)</a:t>
                      </a:r>
                      <a:endParaRPr lang="fi-FI" dirty="0"/>
                    </a:p>
                  </a:txBody>
                  <a:tcPr/>
                </a:tc>
                <a:tc>
                  <a:txBody>
                    <a:bodyPr/>
                    <a:lstStyle/>
                    <a:p>
                      <a:r>
                        <a:rPr lang="fi-FI" sz="1800" b="0" i="0" u="none" strike="noStrike" kern="1200" baseline="0" dirty="0">
                          <a:solidFill>
                            <a:schemeClr val="dk1"/>
                          </a:solidFill>
                          <a:latin typeface="+mn-lt"/>
                          <a:ea typeface="+mn-ea"/>
                          <a:cs typeface="+mn-cs"/>
                        </a:rPr>
                        <a:t>Converts an integer to a character</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18717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182245"/>
            <a:ext cx="10515600" cy="854075"/>
          </a:xfrm>
        </p:spPr>
        <p:txBody>
          <a:bodyPr>
            <a:normAutofit/>
          </a:bodyPr>
          <a:lstStyle/>
          <a:p>
            <a:r>
              <a:rPr lang="en-US" b="1" dirty="0">
                <a:solidFill>
                  <a:srgbClr val="002060"/>
                </a:solidFill>
                <a:latin typeface="Arial Black" panose="020B0A04020102020204" pitchFamily="34" charset="0"/>
              </a:rPr>
              <a:t>Comments</a:t>
            </a:r>
            <a:endParaRPr lang="fi-FI" b="1" dirty="0">
              <a:solidFill>
                <a:srgbClr val="002060"/>
              </a:solidFill>
              <a:latin typeface="Arial Black" panose="020B0A04020102020204" pitchFamily="34" charset="0"/>
            </a:endParaRPr>
          </a:p>
        </p:txBody>
      </p:sp>
      <p:sp>
        <p:nvSpPr>
          <p:cNvPr id="4" name="Content Placeholder 2"/>
          <p:cNvSpPr txBox="1">
            <a:spLocks/>
          </p:cNvSpPr>
          <p:nvPr/>
        </p:nvSpPr>
        <p:spPr>
          <a:xfrm>
            <a:off x="665480" y="1196779"/>
            <a:ext cx="10713720" cy="27551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Lucida Sans" panose="020B0602030504020204" pitchFamily="34" charset="0"/>
              </a:rPr>
              <a:t>&gt;&gt;&gt; name = </a:t>
            </a:r>
            <a:r>
              <a:rPr lang="en-US" dirty="0">
                <a:solidFill>
                  <a:srgbClr val="00B050"/>
                </a:solidFill>
                <a:latin typeface="Lucida Sans" panose="020B0602030504020204" pitchFamily="34" charset="0"/>
              </a:rPr>
              <a:t>“</a:t>
            </a:r>
            <a:r>
              <a:rPr lang="en-US" dirty="0" err="1">
                <a:solidFill>
                  <a:srgbClr val="00B050"/>
                </a:solidFill>
                <a:latin typeface="Lucida Sans" panose="020B0602030504020204" pitchFamily="34" charset="0"/>
              </a:rPr>
              <a:t>ahmed</a:t>
            </a:r>
            <a:r>
              <a:rPr lang="en-US" dirty="0">
                <a:solidFill>
                  <a:srgbClr val="00B050"/>
                </a:solidFill>
                <a:latin typeface="Lucida Sans" panose="020B0602030504020204" pitchFamily="34" charset="0"/>
              </a:rPr>
              <a:t>“		</a:t>
            </a:r>
            <a:r>
              <a:rPr lang="en-US" dirty="0">
                <a:solidFill>
                  <a:srgbClr val="002060"/>
                </a:solidFill>
                <a:latin typeface="Lucida Sans" panose="020B0602030504020204" pitchFamily="34" charset="0"/>
              </a:rPr>
              <a:t># Single line comment</a:t>
            </a:r>
          </a:p>
          <a:p>
            <a:pPr marL="0" indent="0">
              <a:buNone/>
            </a:pPr>
            <a:r>
              <a:rPr lang="en-US" dirty="0">
                <a:solidFill>
                  <a:srgbClr val="002060"/>
                </a:solidFill>
                <a:latin typeface="Lucida Sans" panose="020B0602030504020204" pitchFamily="34" charset="0"/>
              </a:rPr>
              <a:t>''' </a:t>
            </a:r>
          </a:p>
          <a:p>
            <a:pPr marL="0" indent="0">
              <a:buNone/>
            </a:pPr>
            <a:r>
              <a:rPr lang="en-US" dirty="0">
                <a:solidFill>
                  <a:srgbClr val="002060"/>
                </a:solidFill>
                <a:latin typeface="Lucida Sans" panose="020B0602030504020204" pitchFamily="34" charset="0"/>
              </a:rPr>
              <a:t>Multi Line</a:t>
            </a:r>
          </a:p>
          <a:p>
            <a:pPr marL="0" indent="0">
              <a:buNone/>
            </a:pPr>
            <a:r>
              <a:rPr lang="en-US" dirty="0">
                <a:solidFill>
                  <a:srgbClr val="002060"/>
                </a:solidFill>
                <a:latin typeface="Lucida Sans" panose="020B0602030504020204" pitchFamily="34" charset="0"/>
              </a:rPr>
              <a:t>comment</a:t>
            </a:r>
          </a:p>
          <a:p>
            <a:pPr marL="0" indent="0">
              <a:buNone/>
            </a:pPr>
            <a:r>
              <a:rPr lang="en-US" dirty="0">
                <a:solidFill>
                  <a:srgbClr val="002060"/>
                </a:solidFill>
                <a:latin typeface="Lucida Sans" panose="020B0602030504020204" pitchFamily="34" charset="0"/>
              </a:rPr>
              <a:t>'''</a:t>
            </a:r>
          </a:p>
        </p:txBody>
      </p:sp>
    </p:spTree>
    <p:extLst>
      <p:ext uri="{BB962C8B-B14F-4D97-AF65-F5344CB8AC3E}">
        <p14:creationId xmlns:p14="http://schemas.microsoft.com/office/powerpoint/2010/main" val="6230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2753B-B4A0-4BEF-0E0A-27A2CB19C6E6}"/>
              </a:ext>
            </a:extLst>
          </p:cNvPr>
          <p:cNvSpPr>
            <a:spLocks noGrp="1"/>
          </p:cNvSpPr>
          <p:nvPr>
            <p:ph type="title"/>
          </p:nvPr>
        </p:nvSpPr>
        <p:spPr/>
        <p:txBody>
          <a:bodyPr/>
          <a:lstStyle/>
          <a:p>
            <a:r>
              <a:rPr lang="en-US" b="1" i="0" dirty="0">
                <a:solidFill>
                  <a:schemeClr val="accent1">
                    <a:lumMod val="50000"/>
                  </a:schemeClr>
                </a:solidFill>
                <a:effectLst/>
                <a:latin typeface="Segoe UI" panose="020B0502040204020203" pitchFamily="34" charset="0"/>
              </a:rPr>
              <a:t>Arithmetic Operators</a:t>
            </a:r>
            <a:br>
              <a:rPr lang="en-US" b="0" i="0" dirty="0">
                <a:solidFill>
                  <a:srgbClr val="000000"/>
                </a:solidFill>
                <a:effectLst/>
                <a:latin typeface="Segoe UI" panose="020B0502040204020203" pitchFamily="34" charset="0"/>
              </a:rPr>
            </a:br>
            <a:endParaRPr lang="en-US" dirty="0"/>
          </a:p>
        </p:txBody>
      </p:sp>
      <p:pic>
        <p:nvPicPr>
          <p:cNvPr id="5" name="Content Placeholder 4">
            <a:extLst>
              <a:ext uri="{FF2B5EF4-FFF2-40B4-BE49-F238E27FC236}">
                <a16:creationId xmlns:a16="http://schemas.microsoft.com/office/drawing/2014/main" id="{D054A692-4253-11F0-F914-AE1197C00A3A}"/>
              </a:ext>
            </a:extLst>
          </p:cNvPr>
          <p:cNvPicPr>
            <a:picLocks noGrp="1" noChangeAspect="1"/>
          </p:cNvPicPr>
          <p:nvPr>
            <p:ph idx="1"/>
          </p:nvPr>
        </p:nvPicPr>
        <p:blipFill>
          <a:blip r:embed="rId2"/>
          <a:stretch>
            <a:fillRect/>
          </a:stretch>
        </p:blipFill>
        <p:spPr>
          <a:xfrm>
            <a:off x="954157" y="2285174"/>
            <a:ext cx="8415130" cy="3386756"/>
          </a:xfrm>
        </p:spPr>
      </p:pic>
      <p:sp>
        <p:nvSpPr>
          <p:cNvPr id="7" name="TextBox 6">
            <a:extLst>
              <a:ext uri="{FF2B5EF4-FFF2-40B4-BE49-F238E27FC236}">
                <a16:creationId xmlns:a16="http://schemas.microsoft.com/office/drawing/2014/main" id="{2CADE08D-B117-900F-C4C7-665A2032DD49}"/>
              </a:ext>
            </a:extLst>
          </p:cNvPr>
          <p:cNvSpPr txBox="1"/>
          <p:nvPr/>
        </p:nvSpPr>
        <p:spPr>
          <a:xfrm>
            <a:off x="838200" y="1367522"/>
            <a:ext cx="8160026" cy="830997"/>
          </a:xfrm>
          <a:prstGeom prst="rect">
            <a:avLst/>
          </a:prstGeom>
          <a:noFill/>
        </p:spPr>
        <p:txBody>
          <a:bodyPr wrap="square">
            <a:spAutoFit/>
          </a:bodyPr>
          <a:lstStyle/>
          <a:p>
            <a:r>
              <a:rPr lang="en-US" sz="2400" b="0" i="0" dirty="0">
                <a:solidFill>
                  <a:srgbClr val="000000"/>
                </a:solidFill>
                <a:effectLst/>
                <a:latin typeface="Verdana" panose="020B0604030504040204" pitchFamily="34" charset="0"/>
              </a:rPr>
              <a:t>Arithmetic operators are used with numeric values to perform common mathematical operations</a:t>
            </a:r>
            <a:endParaRPr lang="en-US" sz="2400" dirty="0"/>
          </a:p>
        </p:txBody>
      </p:sp>
    </p:spTree>
    <p:extLst>
      <p:ext uri="{BB962C8B-B14F-4D97-AF65-F5344CB8AC3E}">
        <p14:creationId xmlns:p14="http://schemas.microsoft.com/office/powerpoint/2010/main" val="4697832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719</TotalTime>
  <Words>1073</Words>
  <Application>Microsoft Office PowerPoint</Application>
  <PresentationFormat>Widescreen</PresentationFormat>
  <Paragraphs>156</Paragraphs>
  <Slides>27</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27</vt:i4>
      </vt:variant>
    </vt:vector>
  </HeadingPairs>
  <TitlesOfParts>
    <vt:vector size="38" baseType="lpstr">
      <vt:lpstr>-apple-system</vt:lpstr>
      <vt:lpstr>Arial</vt:lpstr>
      <vt:lpstr>Arial Black</vt:lpstr>
      <vt:lpstr>Calibri</vt:lpstr>
      <vt:lpstr>Calibri Light</vt:lpstr>
      <vt:lpstr>Lucida Sans</vt:lpstr>
      <vt:lpstr>Roboto</vt:lpstr>
      <vt:lpstr>Segoe UI</vt:lpstr>
      <vt:lpstr>Verdana</vt:lpstr>
      <vt:lpstr>Wingdings</vt:lpstr>
      <vt:lpstr>Office Theme</vt:lpstr>
      <vt:lpstr>Python</vt:lpstr>
      <vt:lpstr>Intro</vt:lpstr>
      <vt:lpstr>Types of Programming languages </vt:lpstr>
      <vt:lpstr>What’s Python?</vt:lpstr>
      <vt:lpstr>Con.</vt:lpstr>
      <vt:lpstr>Con.</vt:lpstr>
      <vt:lpstr>Why Python?</vt:lpstr>
      <vt:lpstr>PowerPoint Presentation</vt:lpstr>
      <vt:lpstr>PowerPoint Presentation</vt:lpstr>
      <vt:lpstr>Compiler vs Interpreter</vt:lpstr>
      <vt:lpstr>Compiler vs Interpreter</vt:lpstr>
      <vt:lpstr>Installing Python</vt:lpstr>
      <vt:lpstr>Interactive Programming</vt:lpstr>
      <vt:lpstr>Variables</vt:lpstr>
      <vt:lpstr>Variables</vt:lpstr>
      <vt:lpstr>Variables</vt:lpstr>
      <vt:lpstr>Data Types: Number Types</vt:lpstr>
      <vt:lpstr>Data Types: Strings</vt:lpstr>
      <vt:lpstr>PowerPoint Presentation</vt:lpstr>
      <vt:lpstr>PowerPoint Presentation</vt:lpstr>
      <vt:lpstr>PowerPoint Presentation</vt:lpstr>
      <vt:lpstr>PowerPoint Presentation</vt:lpstr>
      <vt:lpstr>PowerPoint Presentation</vt:lpstr>
      <vt:lpstr>PowerPoint Presentation</vt:lpstr>
      <vt:lpstr>Type Conversions</vt:lpstr>
      <vt:lpstr>Comments</vt:lpstr>
      <vt:lpstr>Arithmetic Operators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Anas</dc:creator>
  <cp:lastModifiedBy>anas.emad@pg.fci-cu.edu.eg</cp:lastModifiedBy>
  <cp:revision>5</cp:revision>
  <dcterms:created xsi:type="dcterms:W3CDTF">2023-02-17T08:51:02Z</dcterms:created>
  <dcterms:modified xsi:type="dcterms:W3CDTF">2026-01-05T21:01:20Z</dcterms:modified>
</cp:coreProperties>
</file>